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62" r:id="rId3"/>
    <p:sldId id="312" r:id="rId4"/>
    <p:sldId id="322" r:id="rId5"/>
    <p:sldId id="319" r:id="rId6"/>
    <p:sldId id="320" r:id="rId7"/>
    <p:sldId id="323" r:id="rId8"/>
    <p:sldId id="324" r:id="rId9"/>
    <p:sldId id="314" r:id="rId10"/>
    <p:sldId id="313" r:id="rId11"/>
    <p:sldId id="328" r:id="rId12"/>
    <p:sldId id="315" r:id="rId13"/>
    <p:sldId id="316" r:id="rId14"/>
    <p:sldId id="317" r:id="rId15"/>
    <p:sldId id="326" r:id="rId16"/>
    <p:sldId id="327" r:id="rId17"/>
    <p:sldId id="325" r:id="rId18"/>
    <p:sldId id="31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A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86" autoAdjust="0"/>
    <p:restoredTop sz="94660"/>
  </p:normalViewPr>
  <p:slideViewPr>
    <p:cSldViewPr snapToGrid="0">
      <p:cViewPr varScale="1">
        <p:scale>
          <a:sx n="78" d="100"/>
          <a:sy n="78" d="100"/>
        </p:scale>
        <p:origin x="523"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51A88A-AFD5-4BBC-AB42-87C4A1F182E5}" type="datetimeFigureOut">
              <a:rPr lang="en-IN" smtClean="0"/>
              <a:t>08-02-2026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0010B7-08B2-4EAB-9A34-BD3B1A0A7006}" type="slidenum">
              <a:rPr lang="en-IN" smtClean="0"/>
              <a:t>‹#›</a:t>
            </a:fld>
            <a:endParaRPr lang="en-IN"/>
          </a:p>
        </p:txBody>
      </p:sp>
    </p:spTree>
    <p:extLst>
      <p:ext uri="{BB962C8B-B14F-4D97-AF65-F5344CB8AC3E}">
        <p14:creationId xmlns:p14="http://schemas.microsoft.com/office/powerpoint/2010/main" val="2611795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2"/>
        <p:cNvGrpSpPr/>
        <p:nvPr/>
      </p:nvGrpSpPr>
      <p:grpSpPr>
        <a:xfrm>
          <a:off x="0" y="0"/>
          <a:ext cx="0" cy="0"/>
          <a:chOff x="0" y="0"/>
          <a:chExt cx="0" cy="0"/>
        </a:xfrm>
      </p:grpSpPr>
      <p:sp>
        <p:nvSpPr>
          <p:cNvPr id="1383" name="Google Shape;1383;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4" name="Google Shape;1384;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3924CC44-0FA8-7217-2C2D-7DF7CFF77815}"/>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3BDB1C9B-758F-466A-89B3-0D1C9D6A9C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2581712A-BF70-D4B1-EB73-8A5C729705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3275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659D86EF-1678-2A0D-D7C0-510E017672E6}"/>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0C5F1D09-4F38-3C03-3B7E-36D4B5A84E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C3552EB3-6285-FE8B-F68C-AEB94CEBE2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674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C40A9D00-19ED-410C-611F-C252E2C59ACD}"/>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0036691F-F2D1-4D06-F29A-62BAE00F06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A792F6C5-13A5-C710-BB5D-E3E494BAD4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6041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5BB07FA5-C81A-8C80-C86A-D9DACDA00CE5}"/>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450ACA68-7A0D-5E20-63D7-9D5FEEC0F4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F24ED4BC-2025-BAEF-95F9-D70001D97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3516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2AA74EFF-4A9C-3FE8-9AE2-271E0272DCDF}"/>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047A759B-DCB3-8EEB-951D-76B93FFCF6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013503F4-1DD7-3656-9D41-94CF63502A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583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3F2EC6D6-A993-34BF-F564-649D166C77B0}"/>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E808F2EA-2C8D-5C7B-2739-62342B3292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8647BD85-A252-0BCC-320C-37ACA0B538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0307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0DD5FE7C-AAD2-3AF8-0131-7DA8C44CCC6E}"/>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FAFD7D18-4FA6-DB6B-6D27-75A52687E5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68C457F5-0CC3-CD4E-A36B-0E27E25C6F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6605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8FC1B881-3993-7252-315B-69467BD0EEDA}"/>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34E1B2AE-C772-9191-5A81-4E48C581E9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22654197-9974-66E7-AA94-77F00E6347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7926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9F7F2128-30D8-32F8-BAC7-81B254AE43CF}"/>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21DA00EE-2E3A-6015-0BA1-1F14839B3A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42CB9336-2F65-51F9-82BB-311C38F6D3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7274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C2005E28-4E62-0C8E-2390-D37CDA1FBEBD}"/>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0C1AF1FB-ACCD-E81F-5093-FF20F4C3BF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3963F3B0-4209-7021-C910-78B558BD84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1224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1A8643B7-7477-6EBE-3C06-08D176A47537}"/>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64FE48AA-58C2-16C7-7E4E-E24BC8920C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E0EA7937-380C-1338-63F4-0D6B94D097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85560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B4BCBBA5-DD00-3F94-39D4-56DDE5E6EFC6}"/>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7004DE4A-6FF2-8D8C-6BD5-9ADD9E5567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ACBE957F-C47D-0811-BA63-C2380C86C3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66471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15B6FD1B-1799-CB2D-40D8-A013A2161987}"/>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B7696863-D985-639B-C340-B90B64B50A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1EE84A00-8DF6-74F7-B840-1F943BAD93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8498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A7B3D3D9-B1B2-CBC8-B99A-8A43F1635C3C}"/>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93CFE597-7003-CA51-98A2-3E0DDD0004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980F637A-79B4-D5A9-1E54-942B1B78EF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3773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A06CA166-0529-3527-755D-CC5705252E9A}"/>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FFA9614D-649F-624B-B4DA-26801024DE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405CB634-D86C-5D2E-E8E9-6BC6BAD9AF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7409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a:extLst>
            <a:ext uri="{FF2B5EF4-FFF2-40B4-BE49-F238E27FC236}">
              <a16:creationId xmlns:a16="http://schemas.microsoft.com/office/drawing/2014/main" id="{BC46A87B-9FEB-10DF-5149-CFAC382284B9}"/>
            </a:ext>
          </a:extLst>
        </p:cNvPr>
        <p:cNvGrpSpPr/>
        <p:nvPr/>
      </p:nvGrpSpPr>
      <p:grpSpPr>
        <a:xfrm>
          <a:off x="0" y="0"/>
          <a:ext cx="0" cy="0"/>
          <a:chOff x="0" y="0"/>
          <a:chExt cx="0" cy="0"/>
        </a:xfrm>
      </p:grpSpPr>
      <p:sp>
        <p:nvSpPr>
          <p:cNvPr id="1401" name="Google Shape;1401;gd431007ba2_0_215:notes">
            <a:extLst>
              <a:ext uri="{FF2B5EF4-FFF2-40B4-BE49-F238E27FC236}">
                <a16:creationId xmlns:a16="http://schemas.microsoft.com/office/drawing/2014/main" id="{314A80BD-0819-A35E-8F78-D594D4B355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d431007ba2_0_215:notes">
            <a:extLst>
              <a:ext uri="{FF2B5EF4-FFF2-40B4-BE49-F238E27FC236}">
                <a16:creationId xmlns:a16="http://schemas.microsoft.com/office/drawing/2014/main" id="{B934F2F6-4304-ADF0-58CB-3F31F8EF95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8317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7DCB1-5D89-DE84-211B-95F25414A0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025E4F-0A8E-F5BC-9228-AA0A0FEA5B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CD9C50-8C61-6608-9CB8-7B56B938325F}"/>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5" name="Footer Placeholder 4">
            <a:extLst>
              <a:ext uri="{FF2B5EF4-FFF2-40B4-BE49-F238E27FC236}">
                <a16:creationId xmlns:a16="http://schemas.microsoft.com/office/drawing/2014/main" id="{BB0F5613-16BD-C3FC-6331-FDB0D19F6A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82FC4C-D1F3-799C-74FE-EEA6007A4298}"/>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296137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73F2E-291D-0F43-A400-907F6B7840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170509-60D4-37F2-4014-4DB9CC0C95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706271-AE74-DD08-1F7F-7E48746FFFDA}"/>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5" name="Footer Placeholder 4">
            <a:extLst>
              <a:ext uri="{FF2B5EF4-FFF2-40B4-BE49-F238E27FC236}">
                <a16:creationId xmlns:a16="http://schemas.microsoft.com/office/drawing/2014/main" id="{5137AEF3-7BF9-351F-4341-171C9B4535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DDEC09-06AC-A657-4A9F-A6535D13AD97}"/>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1941522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6F847-8FE6-9534-1483-8ED6628628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7820BD4-0152-E685-BDDA-59BAE69760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01746-D6C4-24B3-BBCB-5FD409EBFA92}"/>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5" name="Footer Placeholder 4">
            <a:extLst>
              <a:ext uri="{FF2B5EF4-FFF2-40B4-BE49-F238E27FC236}">
                <a16:creationId xmlns:a16="http://schemas.microsoft.com/office/drawing/2014/main" id="{CE93BDC5-1DC9-0C9A-7DD4-EE856FEAF5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99390C-672C-553D-06FA-4B47A9773E1C}"/>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3276130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A8B1E-8212-D766-FA6B-9FDD5E3B32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B4EAB9-0118-BBE0-1E59-5E73651D60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5B93332-E8C5-5293-C03F-13ABC086D4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2E94F4-8099-A8F8-964B-6BC68DAC8FBD}"/>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6" name="Footer Placeholder 5">
            <a:extLst>
              <a:ext uri="{FF2B5EF4-FFF2-40B4-BE49-F238E27FC236}">
                <a16:creationId xmlns:a16="http://schemas.microsoft.com/office/drawing/2014/main" id="{7DA53FC1-78DF-2CDF-372C-737267BE08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020DA3-9BBC-2E91-5121-6C91ADFE7921}"/>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4117956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4988-2174-AE1C-CBB7-64A57D8B6E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F6DF27-6996-A7E9-DC79-F38FF3DD2A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9E9E05-4360-D92E-D5B8-F2C499BB61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65A6128-2D6B-CED0-7EF2-22E5AD7393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59DB81-E697-C595-D8BF-5832D15BDE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DA8C4F-9E5B-C96F-173A-AB6620FD0811}"/>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8" name="Footer Placeholder 7">
            <a:extLst>
              <a:ext uri="{FF2B5EF4-FFF2-40B4-BE49-F238E27FC236}">
                <a16:creationId xmlns:a16="http://schemas.microsoft.com/office/drawing/2014/main" id="{02E1B30B-7259-8BEE-35D6-89218E4B0F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417889-5C25-57F2-E801-110A8BD44232}"/>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1982039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18DCC-A427-E146-9774-0D522DE9F07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DC34B3-66B4-CB14-7693-A7481C007902}"/>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4" name="Footer Placeholder 3">
            <a:extLst>
              <a:ext uri="{FF2B5EF4-FFF2-40B4-BE49-F238E27FC236}">
                <a16:creationId xmlns:a16="http://schemas.microsoft.com/office/drawing/2014/main" id="{5C355A83-E8D8-ADAE-A074-9C35E11F01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5D3DFB-CA8E-0AD0-D897-579A410648CF}"/>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119710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997F76-F4D2-08A5-2AC3-5599D2082490}"/>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3" name="Footer Placeholder 2">
            <a:extLst>
              <a:ext uri="{FF2B5EF4-FFF2-40B4-BE49-F238E27FC236}">
                <a16:creationId xmlns:a16="http://schemas.microsoft.com/office/drawing/2014/main" id="{573E65D3-9DA7-E11E-8FC4-F57E6B7D7B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A2795D5-C4FE-29C1-BC6E-A2CCE2AD74B4}"/>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331728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E74D0-EF25-6A7E-9DE9-4AD6452692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81544C-582A-FAEB-69A1-657B52C65A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92A1C7B-9E3F-88D8-46DF-E6798AC6AF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D1D4C-7B42-0F44-F8CD-75F669BE8447}"/>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6" name="Footer Placeholder 5">
            <a:extLst>
              <a:ext uri="{FF2B5EF4-FFF2-40B4-BE49-F238E27FC236}">
                <a16:creationId xmlns:a16="http://schemas.microsoft.com/office/drawing/2014/main" id="{8D38A097-F9FD-A75B-EA56-FCAF4EC035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37F10F-7752-A79D-71D6-A03A6736F7BC}"/>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4253351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A266C-1F2B-E423-C553-B1BBE42BF7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94ADBED-F6AB-899C-3D2B-516B647D3B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32B0D65-3492-F7C2-3D86-1F41F4DBF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CAAA15-E949-18F3-73A6-646C673125A2}"/>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6" name="Footer Placeholder 5">
            <a:extLst>
              <a:ext uri="{FF2B5EF4-FFF2-40B4-BE49-F238E27FC236}">
                <a16:creationId xmlns:a16="http://schemas.microsoft.com/office/drawing/2014/main" id="{DCBE88E8-199A-9B1B-7D28-125625D767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2534BA-9E5C-E5C6-2FC8-B15E4CFAC8F3}"/>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1759279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49FBC-A79D-5CF1-C414-43609674EC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FE0F69-67C7-DAF2-1297-F48B6397BF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1B8C18-9B6D-5030-07A3-E50F62970AF3}"/>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5" name="Footer Placeholder 4">
            <a:extLst>
              <a:ext uri="{FF2B5EF4-FFF2-40B4-BE49-F238E27FC236}">
                <a16:creationId xmlns:a16="http://schemas.microsoft.com/office/drawing/2014/main" id="{1CB709CF-A58F-7577-0E61-0A07C69E38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937330-178F-FA47-9238-393D55C28BA9}"/>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3714406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18CF42-3DA1-74FB-B711-7C736BE3BF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BA20C5-BF1E-DF18-1E50-C1765C8612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DB5BFB-C324-12D2-5293-0551619DDFCF}"/>
              </a:ext>
            </a:extLst>
          </p:cNvPr>
          <p:cNvSpPr>
            <a:spLocks noGrp="1"/>
          </p:cNvSpPr>
          <p:nvPr>
            <p:ph type="dt" sz="half" idx="10"/>
          </p:nvPr>
        </p:nvSpPr>
        <p:spPr/>
        <p:txBody>
          <a:bodyPr/>
          <a:lstStyle/>
          <a:p>
            <a:fld id="{6A5DC351-8FE4-4E37-896C-B37328B7F24F}" type="datetimeFigureOut">
              <a:rPr lang="en-IN" smtClean="0"/>
              <a:t>08-02-2026</a:t>
            </a:fld>
            <a:endParaRPr lang="en-IN"/>
          </a:p>
        </p:txBody>
      </p:sp>
      <p:sp>
        <p:nvSpPr>
          <p:cNvPr id="5" name="Footer Placeholder 4">
            <a:extLst>
              <a:ext uri="{FF2B5EF4-FFF2-40B4-BE49-F238E27FC236}">
                <a16:creationId xmlns:a16="http://schemas.microsoft.com/office/drawing/2014/main" id="{42871683-A1E4-7902-F11A-1119E3B5E4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85D8B2-0A5E-3B22-D49A-525A54DC2691}"/>
              </a:ext>
            </a:extLst>
          </p:cNvPr>
          <p:cNvSpPr>
            <a:spLocks noGrp="1"/>
          </p:cNvSpPr>
          <p:nvPr>
            <p:ph type="sldNum" sz="quarter" idx="12"/>
          </p:nvPr>
        </p:nvSpPr>
        <p:spPr/>
        <p:txBody>
          <a:bodyPr/>
          <a:lstStyle/>
          <a:p>
            <a:fld id="{2CB4357A-0394-4B8A-A5CD-3C1CA2DADA97}" type="slidenum">
              <a:rPr lang="en-IN" smtClean="0"/>
              <a:t>‹#›</a:t>
            </a:fld>
            <a:endParaRPr lang="en-IN"/>
          </a:p>
        </p:txBody>
      </p:sp>
    </p:spTree>
    <p:extLst>
      <p:ext uri="{BB962C8B-B14F-4D97-AF65-F5344CB8AC3E}">
        <p14:creationId xmlns:p14="http://schemas.microsoft.com/office/powerpoint/2010/main" val="248795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
        <p:cNvGrpSpPr/>
        <p:nvPr/>
      </p:nvGrpSpPr>
      <p:grpSpPr>
        <a:xfrm>
          <a:off x="0" y="0"/>
          <a:ext cx="0" cy="0"/>
          <a:chOff x="0" y="0"/>
          <a:chExt cx="0" cy="0"/>
        </a:xfrm>
      </p:grpSpPr>
      <p:grpSp>
        <p:nvGrpSpPr>
          <p:cNvPr id="9" name="Google Shape;9;p2"/>
          <p:cNvGrpSpPr/>
          <p:nvPr/>
        </p:nvGrpSpPr>
        <p:grpSpPr>
          <a:xfrm>
            <a:off x="-674043" y="-959000"/>
            <a:ext cx="13321176" cy="8067475"/>
            <a:chOff x="-505532" y="-719250"/>
            <a:chExt cx="9990882" cy="6050606"/>
          </a:xfrm>
        </p:grpSpPr>
        <p:grpSp>
          <p:nvGrpSpPr>
            <p:cNvPr id="10" name="Google Shape;10;p2"/>
            <p:cNvGrpSpPr/>
            <p:nvPr/>
          </p:nvGrpSpPr>
          <p:grpSpPr>
            <a:xfrm>
              <a:off x="6509552" y="-719250"/>
              <a:ext cx="2975798" cy="2392650"/>
              <a:chOff x="4418377" y="-851325"/>
              <a:chExt cx="2975798" cy="2392650"/>
            </a:xfrm>
          </p:grpSpPr>
          <p:grpSp>
            <p:nvGrpSpPr>
              <p:cNvPr id="11" name="Google Shape;11;p2"/>
              <p:cNvGrpSpPr/>
              <p:nvPr/>
            </p:nvGrpSpPr>
            <p:grpSpPr>
              <a:xfrm>
                <a:off x="4428309" y="-723871"/>
                <a:ext cx="1245819" cy="1079037"/>
                <a:chOff x="8022925" y="186250"/>
                <a:chExt cx="815700" cy="706500"/>
              </a:xfrm>
            </p:grpSpPr>
            <p:sp>
              <p:nvSpPr>
                <p:cNvPr id="12" name="Google Shape;12;p2"/>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13" name="Google Shape;13;p2"/>
                <p:cNvSpPr/>
                <p:nvPr/>
              </p:nvSpPr>
              <p:spPr>
                <a:xfrm>
                  <a:off x="8066182" y="223764"/>
                  <a:ext cx="729300" cy="631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14" name="Google Shape;14;p2"/>
                <p:cNvSpPr/>
                <p:nvPr/>
              </p:nvSpPr>
              <p:spPr>
                <a:xfrm>
                  <a:off x="8355664" y="474499"/>
                  <a:ext cx="150300" cy="1302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grpSp>
            <p:nvGrpSpPr>
              <p:cNvPr id="15" name="Google Shape;15;p2"/>
              <p:cNvGrpSpPr/>
              <p:nvPr/>
            </p:nvGrpSpPr>
            <p:grpSpPr>
              <a:xfrm>
                <a:off x="6360273" y="-338456"/>
                <a:ext cx="917499" cy="794671"/>
                <a:chOff x="8022925" y="186250"/>
                <a:chExt cx="815700" cy="706500"/>
              </a:xfrm>
            </p:grpSpPr>
            <p:sp>
              <p:nvSpPr>
                <p:cNvPr id="16" name="Google Shape;16;p2"/>
                <p:cNvSpPr/>
                <p:nvPr/>
              </p:nvSpPr>
              <p:spPr>
                <a:xfrm>
                  <a:off x="8022925" y="186250"/>
                  <a:ext cx="815700" cy="7065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17" name="Google Shape;17;p2"/>
                <p:cNvSpPr/>
                <p:nvPr/>
              </p:nvSpPr>
              <p:spPr>
                <a:xfrm>
                  <a:off x="8169420" y="313166"/>
                  <a:ext cx="522900" cy="452700"/>
                </a:xfrm>
                <a:prstGeom prst="hexagon">
                  <a:avLst>
                    <a:gd name="adj" fmla="val 25000"/>
                    <a:gd name="vf" fmla="val 11547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grpSp>
            <p:nvGrpSpPr>
              <p:cNvPr id="18" name="Google Shape;18;p2"/>
              <p:cNvGrpSpPr/>
              <p:nvPr/>
            </p:nvGrpSpPr>
            <p:grpSpPr>
              <a:xfrm>
                <a:off x="5548840" y="-8756"/>
                <a:ext cx="587793" cy="509104"/>
                <a:chOff x="8022925" y="186250"/>
                <a:chExt cx="815700" cy="706500"/>
              </a:xfrm>
            </p:grpSpPr>
            <p:sp>
              <p:nvSpPr>
                <p:cNvPr id="19" name="Google Shape;19;p2"/>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20" name="Google Shape;20;p2"/>
                <p:cNvSpPr/>
                <p:nvPr/>
              </p:nvSpPr>
              <p:spPr>
                <a:xfrm>
                  <a:off x="8114217" y="265360"/>
                  <a:ext cx="633300" cy="5484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grpSp>
            <p:nvGrpSpPr>
              <p:cNvPr id="21" name="Google Shape;21;p2"/>
              <p:cNvGrpSpPr/>
              <p:nvPr/>
            </p:nvGrpSpPr>
            <p:grpSpPr>
              <a:xfrm>
                <a:off x="6089765" y="600244"/>
                <a:ext cx="587793" cy="509104"/>
                <a:chOff x="8022925" y="186250"/>
                <a:chExt cx="815700" cy="706500"/>
              </a:xfrm>
            </p:grpSpPr>
            <p:sp>
              <p:nvSpPr>
                <p:cNvPr id="22" name="Google Shape;22;p2"/>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23" name="Google Shape;23;p2"/>
                <p:cNvSpPr/>
                <p:nvPr/>
              </p:nvSpPr>
              <p:spPr>
                <a:xfrm>
                  <a:off x="8213302" y="351156"/>
                  <a:ext cx="435000" cy="3768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sp>
            <p:nvSpPr>
              <p:cNvPr id="24" name="Google Shape;24;p2"/>
              <p:cNvSpPr/>
              <p:nvPr/>
            </p:nvSpPr>
            <p:spPr>
              <a:xfrm>
                <a:off x="6499238" y="5521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25" name="Google Shape;25;p2"/>
              <p:cNvSpPr/>
              <p:nvPr/>
            </p:nvSpPr>
            <p:spPr>
              <a:xfrm>
                <a:off x="6053077" y="-723872"/>
                <a:ext cx="307200" cy="2661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cxnSp>
            <p:nvCxnSpPr>
              <p:cNvPr id="26" name="Google Shape;26;p2"/>
              <p:cNvCxnSpPr>
                <a:stCxn id="12" idx="1"/>
              </p:cNvCxnSpPr>
              <p:nvPr/>
            </p:nvCxnSpPr>
            <p:spPr>
              <a:xfrm>
                <a:off x="5404368" y="355166"/>
                <a:ext cx="285600" cy="5016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27;p2"/>
              <p:cNvCxnSpPr>
                <a:stCxn id="22" idx="3"/>
              </p:cNvCxnSpPr>
              <p:nvPr/>
            </p:nvCxnSpPr>
            <p:spPr>
              <a:xfrm rot="10800000">
                <a:off x="5686565" y="854796"/>
                <a:ext cx="403200" cy="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28;p2"/>
              <p:cNvCxnSpPr>
                <a:stCxn id="19" idx="0"/>
              </p:cNvCxnSpPr>
              <p:nvPr/>
            </p:nvCxnSpPr>
            <p:spPr>
              <a:xfrm>
                <a:off x="6136634" y="245796"/>
                <a:ext cx="154500" cy="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29;p2"/>
              <p:cNvCxnSpPr>
                <a:stCxn id="16" idx="3"/>
              </p:cNvCxnSpPr>
              <p:nvPr/>
            </p:nvCxnSpPr>
            <p:spPr>
              <a:xfrm flipH="1">
                <a:off x="6287073" y="58880"/>
                <a:ext cx="73200" cy="1875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0;p2"/>
              <p:cNvCxnSpPr>
                <a:stCxn id="22" idx="1"/>
              </p:cNvCxnSpPr>
              <p:nvPr/>
            </p:nvCxnSpPr>
            <p:spPr>
              <a:xfrm>
                <a:off x="6550283" y="1109348"/>
                <a:ext cx="226200" cy="391800"/>
              </a:xfrm>
              <a:prstGeom prst="straightConnector1">
                <a:avLst/>
              </a:prstGeom>
              <a:noFill/>
              <a:ln w="9525" cap="flat" cmpd="sng">
                <a:solidFill>
                  <a:schemeClr val="dk2"/>
                </a:solidFill>
                <a:prstDash val="solid"/>
                <a:round/>
                <a:headEnd type="none" w="med" len="med"/>
                <a:tailEnd type="none" w="med" len="med"/>
              </a:ln>
            </p:spPr>
          </p:cxnSp>
          <p:sp>
            <p:nvSpPr>
              <p:cNvPr id="31" name="Google Shape;31;p2"/>
              <p:cNvSpPr/>
              <p:nvPr/>
            </p:nvSpPr>
            <p:spPr>
              <a:xfrm>
                <a:off x="6736425" y="146272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cxnSp>
            <p:nvCxnSpPr>
              <p:cNvPr id="32" name="Google Shape;32;p2"/>
              <p:cNvCxnSpPr>
                <a:stCxn id="16" idx="5"/>
              </p:cNvCxnSpPr>
              <p:nvPr/>
            </p:nvCxnSpPr>
            <p:spPr>
              <a:xfrm rot="10800000" flipH="1">
                <a:off x="7079105" y="-816055"/>
                <a:ext cx="275700" cy="477600"/>
              </a:xfrm>
              <a:prstGeom prst="straightConnector1">
                <a:avLst/>
              </a:prstGeom>
              <a:noFill/>
              <a:ln w="9525" cap="flat" cmpd="sng">
                <a:solidFill>
                  <a:schemeClr val="dk2"/>
                </a:solidFill>
                <a:prstDash val="solid"/>
                <a:round/>
                <a:headEnd type="none" w="med" len="med"/>
                <a:tailEnd type="none" w="med" len="med"/>
              </a:ln>
            </p:spPr>
          </p:cxnSp>
          <p:sp>
            <p:nvSpPr>
              <p:cNvPr id="33" name="Google Shape;33;p2"/>
              <p:cNvSpPr/>
              <p:nvPr/>
            </p:nvSpPr>
            <p:spPr>
              <a:xfrm>
                <a:off x="7315575" y="-85132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34" name="Google Shape;34;p2"/>
              <p:cNvSpPr/>
              <p:nvPr/>
            </p:nvSpPr>
            <p:spPr>
              <a:xfrm>
                <a:off x="4418377" y="472928"/>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grpSp>
          <p:nvGrpSpPr>
            <p:cNvPr id="35" name="Google Shape;35;p2"/>
            <p:cNvGrpSpPr/>
            <p:nvPr/>
          </p:nvGrpSpPr>
          <p:grpSpPr>
            <a:xfrm>
              <a:off x="-505532" y="4226447"/>
              <a:ext cx="3290857" cy="1104909"/>
              <a:chOff x="-505532" y="4226447"/>
              <a:chExt cx="3290857" cy="1104909"/>
            </a:xfrm>
          </p:grpSpPr>
          <p:cxnSp>
            <p:nvCxnSpPr>
              <p:cNvPr id="36" name="Google Shape;36;p2"/>
              <p:cNvCxnSpPr>
                <a:stCxn id="37" idx="3"/>
                <a:endCxn id="38" idx="0"/>
              </p:cNvCxnSpPr>
              <p:nvPr/>
            </p:nvCxnSpPr>
            <p:spPr>
              <a:xfrm>
                <a:off x="1223400" y="4747104"/>
                <a:ext cx="1288200" cy="0"/>
              </a:xfrm>
              <a:prstGeom prst="straightConnector1">
                <a:avLst/>
              </a:prstGeom>
              <a:noFill/>
              <a:ln w="9525" cap="flat" cmpd="sng">
                <a:solidFill>
                  <a:schemeClr val="dk2"/>
                </a:solidFill>
                <a:prstDash val="solid"/>
                <a:round/>
                <a:headEnd type="none" w="med" len="med"/>
                <a:tailEnd type="none" w="med" len="med"/>
              </a:ln>
            </p:spPr>
          </p:cxnSp>
          <p:sp>
            <p:nvSpPr>
              <p:cNvPr id="38" name="Google Shape;38;p2"/>
              <p:cNvSpPr/>
              <p:nvPr/>
            </p:nvSpPr>
            <p:spPr>
              <a:xfrm rot="10800000">
                <a:off x="2511725" y="4628451"/>
                <a:ext cx="273600" cy="2373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nvGrpSpPr>
              <p:cNvPr id="39" name="Google Shape;39;p2"/>
              <p:cNvGrpSpPr/>
              <p:nvPr/>
            </p:nvGrpSpPr>
            <p:grpSpPr>
              <a:xfrm rot="10800000">
                <a:off x="-505532" y="4536684"/>
                <a:ext cx="917499" cy="794671"/>
                <a:chOff x="8022925" y="186250"/>
                <a:chExt cx="815700" cy="706500"/>
              </a:xfrm>
            </p:grpSpPr>
            <p:sp>
              <p:nvSpPr>
                <p:cNvPr id="40" name="Google Shape;40;p2"/>
                <p:cNvSpPr/>
                <p:nvPr/>
              </p:nvSpPr>
              <p:spPr>
                <a:xfrm>
                  <a:off x="8022925" y="186250"/>
                  <a:ext cx="815700" cy="7065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41" name="Google Shape;41;p2"/>
                <p:cNvSpPr/>
                <p:nvPr/>
              </p:nvSpPr>
              <p:spPr>
                <a:xfrm>
                  <a:off x="8169420" y="313166"/>
                  <a:ext cx="522900" cy="452700"/>
                </a:xfrm>
                <a:prstGeom prst="hexagon">
                  <a:avLst>
                    <a:gd name="adj" fmla="val 25000"/>
                    <a:gd name="vf" fmla="val 11547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grpSp>
            <p:nvGrpSpPr>
              <p:cNvPr id="42" name="Google Shape;42;p2"/>
              <p:cNvGrpSpPr/>
              <p:nvPr/>
            </p:nvGrpSpPr>
            <p:grpSpPr>
              <a:xfrm rot="10800000">
                <a:off x="635607" y="4492552"/>
                <a:ext cx="587793" cy="509104"/>
                <a:chOff x="8022925" y="186250"/>
                <a:chExt cx="815700" cy="706500"/>
              </a:xfrm>
            </p:grpSpPr>
            <p:sp>
              <p:nvSpPr>
                <p:cNvPr id="37" name="Google Shape;37;p2"/>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43" name="Google Shape;43;p2"/>
                <p:cNvSpPr/>
                <p:nvPr/>
              </p:nvSpPr>
              <p:spPr>
                <a:xfrm>
                  <a:off x="8114217" y="265360"/>
                  <a:ext cx="633300" cy="5484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sp>
            <p:nvSpPr>
              <p:cNvPr id="44" name="Google Shape;44;p2"/>
              <p:cNvSpPr/>
              <p:nvPr/>
            </p:nvSpPr>
            <p:spPr>
              <a:xfrm rot="10800000">
                <a:off x="257863" y="4226447"/>
                <a:ext cx="307200" cy="2661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cxnSp>
            <p:nvCxnSpPr>
              <p:cNvPr id="45" name="Google Shape;45;p2"/>
              <p:cNvCxnSpPr>
                <a:stCxn id="37" idx="0"/>
              </p:cNvCxnSpPr>
              <p:nvPr/>
            </p:nvCxnSpPr>
            <p:spPr>
              <a:xfrm rot="10800000">
                <a:off x="481107" y="4747104"/>
                <a:ext cx="154500" cy="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46;p2"/>
              <p:cNvCxnSpPr>
                <a:stCxn id="40" idx="3"/>
              </p:cNvCxnSpPr>
              <p:nvPr/>
            </p:nvCxnSpPr>
            <p:spPr>
              <a:xfrm rot="10800000" flipH="1">
                <a:off x="411967" y="4746520"/>
                <a:ext cx="73200" cy="187500"/>
              </a:xfrm>
              <a:prstGeom prst="straightConnector1">
                <a:avLst/>
              </a:prstGeom>
              <a:noFill/>
              <a:ln w="9525" cap="flat" cmpd="sng">
                <a:solidFill>
                  <a:schemeClr val="dk2"/>
                </a:solidFill>
                <a:prstDash val="solid"/>
                <a:round/>
                <a:headEnd type="none" w="med" len="med"/>
                <a:tailEnd type="none" w="med" len="med"/>
              </a:ln>
            </p:spPr>
          </p:cxnSp>
        </p:grpSp>
        <p:grpSp>
          <p:nvGrpSpPr>
            <p:cNvPr id="47" name="Google Shape;47;p2"/>
            <p:cNvGrpSpPr/>
            <p:nvPr/>
          </p:nvGrpSpPr>
          <p:grpSpPr>
            <a:xfrm rot="10800000" flipH="1">
              <a:off x="148990" y="168600"/>
              <a:ext cx="1128460" cy="989200"/>
              <a:chOff x="-50110" y="3536450"/>
              <a:chExt cx="1128460" cy="989200"/>
            </a:xfrm>
          </p:grpSpPr>
          <p:grpSp>
            <p:nvGrpSpPr>
              <p:cNvPr id="48" name="Google Shape;48;p2"/>
              <p:cNvGrpSpPr/>
              <p:nvPr/>
            </p:nvGrpSpPr>
            <p:grpSpPr>
              <a:xfrm rot="10800000">
                <a:off x="87357" y="3968427"/>
                <a:ext cx="587793" cy="509104"/>
                <a:chOff x="8022925" y="186250"/>
                <a:chExt cx="815700" cy="706500"/>
              </a:xfrm>
            </p:grpSpPr>
            <p:sp>
              <p:nvSpPr>
                <p:cNvPr id="49" name="Google Shape;49;p2"/>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50" name="Google Shape;50;p2"/>
                <p:cNvSpPr/>
                <p:nvPr/>
              </p:nvSpPr>
              <p:spPr>
                <a:xfrm>
                  <a:off x="8213302" y="351156"/>
                  <a:ext cx="435000" cy="3768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sp>
            <p:nvSpPr>
              <p:cNvPr id="51" name="Google Shape;51;p2"/>
              <p:cNvSpPr/>
              <p:nvPr/>
            </p:nvSpPr>
            <p:spPr>
              <a:xfrm rot="10800000">
                <a:off x="163378" y="4423350"/>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cxnSp>
            <p:nvCxnSpPr>
              <p:cNvPr id="52" name="Google Shape;52;p2"/>
              <p:cNvCxnSpPr>
                <a:stCxn id="49" idx="3"/>
              </p:cNvCxnSpPr>
              <p:nvPr/>
            </p:nvCxnSpPr>
            <p:spPr>
              <a:xfrm>
                <a:off x="675150" y="4222979"/>
                <a:ext cx="403200" cy="0"/>
              </a:xfrm>
              <a:prstGeom prst="straightConnector1">
                <a:avLst/>
              </a:prstGeom>
              <a:noFill/>
              <a:ln w="9525" cap="flat" cmpd="sng">
                <a:solidFill>
                  <a:schemeClr val="dk2"/>
                </a:solidFill>
                <a:prstDash val="solid"/>
                <a:round/>
                <a:headEnd type="none" w="med" len="med"/>
                <a:tailEnd type="none" w="med" len="med"/>
              </a:ln>
            </p:spPr>
          </p:cxnSp>
          <p:cxnSp>
            <p:nvCxnSpPr>
              <p:cNvPr id="53" name="Google Shape;53;p2"/>
              <p:cNvCxnSpPr>
                <a:stCxn id="49" idx="1"/>
              </p:cNvCxnSpPr>
              <p:nvPr/>
            </p:nvCxnSpPr>
            <p:spPr>
              <a:xfrm rot="10800000">
                <a:off x="-11567" y="3576627"/>
                <a:ext cx="226200" cy="391800"/>
              </a:xfrm>
              <a:prstGeom prst="straightConnector1">
                <a:avLst/>
              </a:prstGeom>
              <a:noFill/>
              <a:ln w="9525" cap="flat" cmpd="sng">
                <a:solidFill>
                  <a:schemeClr val="dk2"/>
                </a:solidFill>
                <a:prstDash val="solid"/>
                <a:round/>
                <a:headEnd type="none" w="med" len="med"/>
                <a:tailEnd type="none" w="med" len="med"/>
              </a:ln>
            </p:spPr>
          </p:cxnSp>
          <p:sp>
            <p:nvSpPr>
              <p:cNvPr id="54" name="Google Shape;54;p2"/>
              <p:cNvSpPr/>
              <p:nvPr/>
            </p:nvSpPr>
            <p:spPr>
              <a:xfrm rot="10800000">
                <a:off x="-50110" y="3536450"/>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grpSp>
      <p:sp>
        <p:nvSpPr>
          <p:cNvPr id="55" name="Google Shape;55;p2"/>
          <p:cNvSpPr>
            <a:spLocks noGrp="1"/>
          </p:cNvSpPr>
          <p:nvPr>
            <p:ph type="pic" idx="2"/>
          </p:nvPr>
        </p:nvSpPr>
        <p:spPr>
          <a:xfrm>
            <a:off x="6579700" y="1071700"/>
            <a:ext cx="4627200" cy="4520400"/>
          </a:xfrm>
          <a:prstGeom prst="rect">
            <a:avLst/>
          </a:prstGeom>
          <a:noFill/>
          <a:ln w="9525" cap="flat" cmpd="sng">
            <a:solidFill>
              <a:schemeClr val="dk2"/>
            </a:solidFill>
            <a:prstDash val="solid"/>
            <a:round/>
            <a:headEnd type="none" w="sm" len="sm"/>
            <a:tailEnd type="none" w="sm" len="sm"/>
          </a:ln>
        </p:spPr>
      </p:sp>
      <p:sp>
        <p:nvSpPr>
          <p:cNvPr id="56" name="Google Shape;56;p2"/>
          <p:cNvSpPr txBox="1">
            <a:spLocks noGrp="1"/>
          </p:cNvSpPr>
          <p:nvPr>
            <p:ph type="ctrTitle"/>
          </p:nvPr>
        </p:nvSpPr>
        <p:spPr>
          <a:xfrm>
            <a:off x="950967" y="1277067"/>
            <a:ext cx="5628800" cy="36152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867"/>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57" name="Google Shape;57;p2"/>
          <p:cNvSpPr txBox="1">
            <a:spLocks noGrp="1"/>
          </p:cNvSpPr>
          <p:nvPr>
            <p:ph type="subTitle" idx="1"/>
          </p:nvPr>
        </p:nvSpPr>
        <p:spPr>
          <a:xfrm>
            <a:off x="951051" y="4781736"/>
            <a:ext cx="5628800" cy="6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sz="2133">
                <a:solidFill>
                  <a:schemeClr val="dk1"/>
                </a:solidFill>
                <a:latin typeface="Arial" panose="020B0604020202020204" pitchFamily="34" charset="0"/>
                <a:cs typeface="Arial" panose="020B0604020202020204" pitchFamily="34" charset="0"/>
              </a:defRPr>
            </a:lvl1pPr>
            <a:lvl2pPr lvl="1" algn="ctr">
              <a:lnSpc>
                <a:spcPct val="100000"/>
              </a:lnSpc>
              <a:spcBef>
                <a:spcPts val="0"/>
              </a:spcBef>
              <a:spcAft>
                <a:spcPts val="0"/>
              </a:spcAft>
              <a:buClr>
                <a:schemeClr val="dk1"/>
              </a:buClr>
              <a:buSzPts val="1800"/>
              <a:buNone/>
              <a:defRPr sz="2400">
                <a:solidFill>
                  <a:schemeClr val="dk1"/>
                </a:solidFill>
              </a:defRPr>
            </a:lvl2pPr>
            <a:lvl3pPr lvl="2" algn="ctr">
              <a:lnSpc>
                <a:spcPct val="100000"/>
              </a:lnSpc>
              <a:spcBef>
                <a:spcPts val="0"/>
              </a:spcBef>
              <a:spcAft>
                <a:spcPts val="0"/>
              </a:spcAft>
              <a:buClr>
                <a:schemeClr val="dk1"/>
              </a:buClr>
              <a:buSzPts val="1800"/>
              <a:buNone/>
              <a:defRPr sz="2400">
                <a:solidFill>
                  <a:schemeClr val="dk1"/>
                </a:solidFill>
              </a:defRPr>
            </a:lvl3pPr>
            <a:lvl4pPr lvl="3" algn="ctr">
              <a:lnSpc>
                <a:spcPct val="100000"/>
              </a:lnSpc>
              <a:spcBef>
                <a:spcPts val="0"/>
              </a:spcBef>
              <a:spcAft>
                <a:spcPts val="0"/>
              </a:spcAft>
              <a:buClr>
                <a:schemeClr val="dk1"/>
              </a:buClr>
              <a:buSzPts val="1800"/>
              <a:buNone/>
              <a:defRPr sz="2400">
                <a:solidFill>
                  <a:schemeClr val="dk1"/>
                </a:solidFill>
              </a:defRPr>
            </a:lvl4pPr>
            <a:lvl5pPr lvl="4" algn="ctr">
              <a:lnSpc>
                <a:spcPct val="100000"/>
              </a:lnSpc>
              <a:spcBef>
                <a:spcPts val="0"/>
              </a:spcBef>
              <a:spcAft>
                <a:spcPts val="0"/>
              </a:spcAft>
              <a:buClr>
                <a:schemeClr val="dk1"/>
              </a:buClr>
              <a:buSzPts val="1800"/>
              <a:buNone/>
              <a:defRPr sz="2400">
                <a:solidFill>
                  <a:schemeClr val="dk1"/>
                </a:solidFill>
              </a:defRPr>
            </a:lvl5pPr>
            <a:lvl6pPr lvl="5" algn="ctr">
              <a:lnSpc>
                <a:spcPct val="100000"/>
              </a:lnSpc>
              <a:spcBef>
                <a:spcPts val="0"/>
              </a:spcBef>
              <a:spcAft>
                <a:spcPts val="0"/>
              </a:spcAft>
              <a:buClr>
                <a:schemeClr val="dk1"/>
              </a:buClr>
              <a:buSzPts val="1800"/>
              <a:buNone/>
              <a:defRPr sz="2400">
                <a:solidFill>
                  <a:schemeClr val="dk1"/>
                </a:solidFill>
              </a:defRPr>
            </a:lvl6pPr>
            <a:lvl7pPr lvl="6" algn="ctr">
              <a:lnSpc>
                <a:spcPct val="100000"/>
              </a:lnSpc>
              <a:spcBef>
                <a:spcPts val="0"/>
              </a:spcBef>
              <a:spcAft>
                <a:spcPts val="0"/>
              </a:spcAft>
              <a:buClr>
                <a:schemeClr val="dk1"/>
              </a:buClr>
              <a:buSzPts val="1800"/>
              <a:buNone/>
              <a:defRPr sz="2400">
                <a:solidFill>
                  <a:schemeClr val="dk1"/>
                </a:solidFill>
              </a:defRPr>
            </a:lvl7pPr>
            <a:lvl8pPr lvl="7" algn="ctr">
              <a:lnSpc>
                <a:spcPct val="100000"/>
              </a:lnSpc>
              <a:spcBef>
                <a:spcPts val="0"/>
              </a:spcBef>
              <a:spcAft>
                <a:spcPts val="0"/>
              </a:spcAft>
              <a:buClr>
                <a:schemeClr val="dk1"/>
              </a:buClr>
              <a:buSzPts val="1800"/>
              <a:buNone/>
              <a:defRPr sz="2400">
                <a:solidFill>
                  <a:schemeClr val="dk1"/>
                </a:solidFill>
              </a:defRPr>
            </a:lvl8pPr>
            <a:lvl9pPr lvl="8" algn="ctr">
              <a:lnSpc>
                <a:spcPct val="100000"/>
              </a:lnSpc>
              <a:spcBef>
                <a:spcPts val="0"/>
              </a:spcBef>
              <a:spcAft>
                <a:spcPts val="0"/>
              </a:spcAft>
              <a:buClr>
                <a:schemeClr val="dk1"/>
              </a:buClr>
              <a:buSzPts val="1800"/>
              <a:buNone/>
              <a:defRPr sz="2400">
                <a:solidFill>
                  <a:schemeClr val="dk1"/>
                </a:solidFill>
              </a:defRPr>
            </a:lvl9pPr>
          </a:lstStyle>
          <a:p>
            <a:endParaRPr dirty="0"/>
          </a:p>
        </p:txBody>
      </p:sp>
    </p:spTree>
    <p:extLst>
      <p:ext uri="{BB962C8B-B14F-4D97-AF65-F5344CB8AC3E}">
        <p14:creationId xmlns:p14="http://schemas.microsoft.com/office/powerpoint/2010/main" val="30138686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80"/>
        <p:cNvGrpSpPr/>
        <p:nvPr/>
      </p:nvGrpSpPr>
      <p:grpSpPr>
        <a:xfrm>
          <a:off x="0" y="0"/>
          <a:ext cx="0" cy="0"/>
          <a:chOff x="0" y="0"/>
          <a:chExt cx="0" cy="0"/>
        </a:xfrm>
      </p:grpSpPr>
      <p:grpSp>
        <p:nvGrpSpPr>
          <p:cNvPr id="481" name="Google Shape;481;p13"/>
          <p:cNvGrpSpPr/>
          <p:nvPr/>
        </p:nvGrpSpPr>
        <p:grpSpPr>
          <a:xfrm>
            <a:off x="-503765" y="-257727"/>
            <a:ext cx="13440256" cy="7500188"/>
            <a:chOff x="-377824" y="-193296"/>
            <a:chExt cx="10080192" cy="5625141"/>
          </a:xfrm>
        </p:grpSpPr>
        <p:grpSp>
          <p:nvGrpSpPr>
            <p:cNvPr id="482" name="Google Shape;482;p13"/>
            <p:cNvGrpSpPr/>
            <p:nvPr/>
          </p:nvGrpSpPr>
          <p:grpSpPr>
            <a:xfrm>
              <a:off x="7421427" y="-193296"/>
              <a:ext cx="2280941" cy="1580637"/>
              <a:chOff x="7421427" y="-193296"/>
              <a:chExt cx="2280941" cy="1580637"/>
            </a:xfrm>
          </p:grpSpPr>
          <p:grpSp>
            <p:nvGrpSpPr>
              <p:cNvPr id="483" name="Google Shape;483;p13"/>
              <p:cNvGrpSpPr/>
              <p:nvPr/>
            </p:nvGrpSpPr>
            <p:grpSpPr>
              <a:xfrm>
                <a:off x="8430777" y="-193296"/>
                <a:ext cx="1271591" cy="1580637"/>
                <a:chOff x="426827" y="-723871"/>
                <a:chExt cx="1271591" cy="1580637"/>
              </a:xfrm>
            </p:grpSpPr>
            <p:grpSp>
              <p:nvGrpSpPr>
                <p:cNvPr id="484" name="Google Shape;484;p13"/>
                <p:cNvGrpSpPr/>
                <p:nvPr/>
              </p:nvGrpSpPr>
              <p:grpSpPr>
                <a:xfrm>
                  <a:off x="436759" y="-723871"/>
                  <a:ext cx="1245819" cy="1079037"/>
                  <a:chOff x="8022925" y="186250"/>
                  <a:chExt cx="815700" cy="706500"/>
                </a:xfrm>
              </p:grpSpPr>
              <p:sp>
                <p:nvSpPr>
                  <p:cNvPr id="485" name="Google Shape;485;p13"/>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486" name="Google Shape;486;p13"/>
                  <p:cNvSpPr/>
                  <p:nvPr/>
                </p:nvSpPr>
                <p:spPr>
                  <a:xfrm>
                    <a:off x="8066182" y="223764"/>
                    <a:ext cx="729300" cy="631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487" name="Google Shape;487;p13"/>
                  <p:cNvSpPr/>
                  <p:nvPr/>
                </p:nvSpPr>
                <p:spPr>
                  <a:xfrm>
                    <a:off x="8245500" y="379072"/>
                    <a:ext cx="370500" cy="3210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cxnSp>
              <p:nvCxnSpPr>
                <p:cNvPr id="488" name="Google Shape;488;p13"/>
                <p:cNvCxnSpPr>
                  <a:stCxn id="485" idx="1"/>
                </p:cNvCxnSpPr>
                <p:nvPr/>
              </p:nvCxnSpPr>
              <p:spPr>
                <a:xfrm>
                  <a:off x="1412818" y="355166"/>
                  <a:ext cx="285600" cy="501600"/>
                </a:xfrm>
                <a:prstGeom prst="straightConnector1">
                  <a:avLst/>
                </a:prstGeom>
                <a:noFill/>
                <a:ln w="9525" cap="flat" cmpd="sng">
                  <a:solidFill>
                    <a:schemeClr val="dk2"/>
                  </a:solidFill>
                  <a:prstDash val="solid"/>
                  <a:round/>
                  <a:headEnd type="none" w="med" len="med"/>
                  <a:tailEnd type="none" w="med" len="med"/>
                </a:ln>
              </p:spPr>
            </p:cxnSp>
            <p:sp>
              <p:nvSpPr>
                <p:cNvPr id="489" name="Google Shape;489;p13"/>
                <p:cNvSpPr/>
                <p:nvPr/>
              </p:nvSpPr>
              <p:spPr>
                <a:xfrm>
                  <a:off x="426827" y="472928"/>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cxnSp>
            <p:nvCxnSpPr>
              <p:cNvPr id="490" name="Google Shape;490;p13"/>
              <p:cNvCxnSpPr>
                <a:stCxn id="485" idx="3"/>
                <a:endCxn id="491" idx="0"/>
              </p:cNvCxnSpPr>
              <p:nvPr/>
            </p:nvCxnSpPr>
            <p:spPr>
              <a:xfrm rot="10800000">
                <a:off x="7728509" y="346223"/>
                <a:ext cx="712200" cy="0"/>
              </a:xfrm>
              <a:prstGeom prst="straightConnector1">
                <a:avLst/>
              </a:prstGeom>
              <a:noFill/>
              <a:ln w="9525" cap="flat" cmpd="sng">
                <a:solidFill>
                  <a:schemeClr val="dk2"/>
                </a:solidFill>
                <a:prstDash val="solid"/>
                <a:round/>
                <a:headEnd type="none" w="med" len="med"/>
                <a:tailEnd type="none" w="med" len="med"/>
              </a:ln>
            </p:spPr>
          </p:cxnSp>
          <p:sp>
            <p:nvSpPr>
              <p:cNvPr id="491" name="Google Shape;491;p13"/>
              <p:cNvSpPr/>
              <p:nvPr/>
            </p:nvSpPr>
            <p:spPr>
              <a:xfrm>
                <a:off x="7421427" y="213178"/>
                <a:ext cx="307200" cy="2661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grpSp>
          <p:nvGrpSpPr>
            <p:cNvPr id="492" name="Google Shape;492;p13"/>
            <p:cNvGrpSpPr/>
            <p:nvPr/>
          </p:nvGrpSpPr>
          <p:grpSpPr>
            <a:xfrm flipH="1">
              <a:off x="7607363" y="3785313"/>
              <a:ext cx="1835863" cy="1646533"/>
              <a:chOff x="8352175" y="-274150"/>
              <a:chExt cx="1835863" cy="1646533"/>
            </a:xfrm>
          </p:grpSpPr>
          <p:grpSp>
            <p:nvGrpSpPr>
              <p:cNvPr id="493" name="Google Shape;493;p13"/>
              <p:cNvGrpSpPr/>
              <p:nvPr/>
            </p:nvGrpSpPr>
            <p:grpSpPr>
              <a:xfrm>
                <a:off x="9314994" y="616216"/>
                <a:ext cx="873044" cy="756167"/>
                <a:chOff x="8022925" y="186250"/>
                <a:chExt cx="815700" cy="706500"/>
              </a:xfrm>
            </p:grpSpPr>
            <p:sp>
              <p:nvSpPr>
                <p:cNvPr id="494" name="Google Shape;494;p13"/>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495" name="Google Shape;495;p13"/>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496" name="Google Shape;496;p13"/>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sp>
            <p:nvSpPr>
              <p:cNvPr id="497" name="Google Shape;497;p13"/>
              <p:cNvSpPr/>
              <p:nvPr/>
            </p:nvSpPr>
            <p:spPr>
              <a:xfrm>
                <a:off x="8383126" y="-206726"/>
                <a:ext cx="457200" cy="396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498" name="Google Shape;498;p13"/>
              <p:cNvSpPr/>
              <p:nvPr/>
            </p:nvSpPr>
            <p:spPr>
              <a:xfrm>
                <a:off x="9118688" y="590550"/>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nvGrpSpPr>
              <p:cNvPr id="499" name="Google Shape;499;p13"/>
              <p:cNvGrpSpPr/>
              <p:nvPr/>
            </p:nvGrpSpPr>
            <p:grpSpPr>
              <a:xfrm>
                <a:off x="8408775" y="-274150"/>
                <a:ext cx="906219" cy="1300800"/>
                <a:chOff x="6860600" y="1707050"/>
                <a:chExt cx="906219" cy="1300800"/>
              </a:xfrm>
            </p:grpSpPr>
            <p:grpSp>
              <p:nvGrpSpPr>
                <p:cNvPr id="500" name="Google Shape;500;p13"/>
                <p:cNvGrpSpPr/>
                <p:nvPr/>
              </p:nvGrpSpPr>
              <p:grpSpPr>
                <a:xfrm>
                  <a:off x="6860600" y="2285500"/>
                  <a:ext cx="906219" cy="722350"/>
                  <a:chOff x="6860600" y="2285500"/>
                  <a:chExt cx="906219" cy="722350"/>
                </a:xfrm>
              </p:grpSpPr>
              <p:cxnSp>
                <p:nvCxnSpPr>
                  <p:cNvPr id="501" name="Google Shape;501;p13"/>
                  <p:cNvCxnSpPr>
                    <a:stCxn id="494" idx="3"/>
                  </p:cNvCxnSpPr>
                  <p:nvPr/>
                </p:nvCxnSpPr>
                <p:spPr>
                  <a:xfrm rot="10800000">
                    <a:off x="7612919" y="2975499"/>
                    <a:ext cx="153900" cy="0"/>
                  </a:xfrm>
                  <a:prstGeom prst="straightConnector1">
                    <a:avLst/>
                  </a:prstGeom>
                  <a:noFill/>
                  <a:ln w="9525" cap="flat" cmpd="sng">
                    <a:solidFill>
                      <a:schemeClr val="dk2"/>
                    </a:solidFill>
                    <a:prstDash val="solid"/>
                    <a:round/>
                    <a:headEnd type="none" w="med" len="med"/>
                    <a:tailEnd type="none" w="med" len="med"/>
                  </a:ln>
                </p:spPr>
              </p:cxnSp>
              <p:grpSp>
                <p:nvGrpSpPr>
                  <p:cNvPr id="502" name="Google Shape;502;p13"/>
                  <p:cNvGrpSpPr/>
                  <p:nvPr/>
                </p:nvGrpSpPr>
                <p:grpSpPr>
                  <a:xfrm>
                    <a:off x="6860600" y="2285500"/>
                    <a:ext cx="755625" cy="690000"/>
                    <a:chOff x="6860600" y="2285500"/>
                    <a:chExt cx="755625" cy="690000"/>
                  </a:xfrm>
                </p:grpSpPr>
                <p:cxnSp>
                  <p:nvCxnSpPr>
                    <p:cNvPr id="503" name="Google Shape;503;p13"/>
                    <p:cNvCxnSpPr/>
                    <p:nvPr/>
                  </p:nvCxnSpPr>
                  <p:spPr>
                    <a:xfrm rot="10800000">
                      <a:off x="7262825" y="2285500"/>
                      <a:ext cx="353400" cy="690000"/>
                    </a:xfrm>
                    <a:prstGeom prst="straightConnector1">
                      <a:avLst/>
                    </a:prstGeom>
                    <a:noFill/>
                    <a:ln w="9525" cap="flat" cmpd="sng">
                      <a:solidFill>
                        <a:schemeClr val="dk2"/>
                      </a:solidFill>
                      <a:prstDash val="solid"/>
                      <a:round/>
                      <a:headEnd type="none" w="med" len="med"/>
                      <a:tailEnd type="none" w="med" len="med"/>
                    </a:ln>
                  </p:spPr>
                </p:cxnSp>
                <p:cxnSp>
                  <p:nvCxnSpPr>
                    <p:cNvPr id="504" name="Google Shape;504;p13"/>
                    <p:cNvCxnSpPr/>
                    <p:nvPr/>
                  </p:nvCxnSpPr>
                  <p:spPr>
                    <a:xfrm rot="10800000">
                      <a:off x="6860600" y="2289200"/>
                      <a:ext cx="405900" cy="0"/>
                    </a:xfrm>
                    <a:prstGeom prst="straightConnector1">
                      <a:avLst/>
                    </a:prstGeom>
                    <a:noFill/>
                    <a:ln w="9525" cap="flat" cmpd="sng">
                      <a:solidFill>
                        <a:schemeClr val="dk2"/>
                      </a:solidFill>
                      <a:prstDash val="solid"/>
                      <a:round/>
                      <a:headEnd type="none" w="med" len="med"/>
                      <a:tailEnd type="none" w="med" len="med"/>
                    </a:ln>
                  </p:spPr>
                </p:cxnSp>
              </p:grpSp>
              <p:sp>
                <p:nvSpPr>
                  <p:cNvPr id="505" name="Google Shape;505;p13"/>
                  <p:cNvSpPr/>
                  <p:nvPr/>
                </p:nvSpPr>
                <p:spPr>
                  <a:xfrm>
                    <a:off x="7584350" y="2943050"/>
                    <a:ext cx="64800" cy="6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cxnSp>
              <p:nvCxnSpPr>
                <p:cNvPr id="506" name="Google Shape;506;p13"/>
                <p:cNvCxnSpPr/>
                <p:nvPr/>
              </p:nvCxnSpPr>
              <p:spPr>
                <a:xfrm rot="10800000" flipH="1">
                  <a:off x="7261350" y="1744525"/>
                  <a:ext cx="315600" cy="546300"/>
                </a:xfrm>
                <a:prstGeom prst="straightConnector1">
                  <a:avLst/>
                </a:prstGeom>
                <a:noFill/>
                <a:ln w="9525" cap="flat" cmpd="sng">
                  <a:solidFill>
                    <a:schemeClr val="dk2"/>
                  </a:solidFill>
                  <a:prstDash val="solid"/>
                  <a:round/>
                  <a:headEnd type="none" w="med" len="med"/>
                  <a:tailEnd type="none" w="med" len="med"/>
                </a:ln>
              </p:spPr>
            </p:cxnSp>
            <p:sp>
              <p:nvSpPr>
                <p:cNvPr id="507" name="Google Shape;507;p13"/>
                <p:cNvSpPr/>
                <p:nvPr/>
              </p:nvSpPr>
              <p:spPr>
                <a:xfrm>
                  <a:off x="7545125" y="1707050"/>
                  <a:ext cx="73500" cy="732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sp>
            <p:nvSpPr>
              <p:cNvPr id="508" name="Google Shape;508;p13"/>
              <p:cNvSpPr/>
              <p:nvPr/>
            </p:nvSpPr>
            <p:spPr>
              <a:xfrm>
                <a:off x="8352175" y="26867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509" name="Google Shape;509;p13"/>
              <p:cNvSpPr/>
              <p:nvPr/>
            </p:nvSpPr>
            <p:spPr>
              <a:xfrm>
                <a:off x="8504977" y="426753"/>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grpSp>
          <p:nvGrpSpPr>
            <p:cNvPr id="510" name="Google Shape;510;p13"/>
            <p:cNvGrpSpPr/>
            <p:nvPr/>
          </p:nvGrpSpPr>
          <p:grpSpPr>
            <a:xfrm>
              <a:off x="-377824" y="3323825"/>
              <a:ext cx="1141616" cy="1740595"/>
              <a:chOff x="-377824" y="3323825"/>
              <a:chExt cx="1141616" cy="1740595"/>
            </a:xfrm>
          </p:grpSpPr>
          <p:grpSp>
            <p:nvGrpSpPr>
              <p:cNvPr id="511" name="Google Shape;511;p13"/>
              <p:cNvGrpSpPr/>
              <p:nvPr/>
            </p:nvGrpSpPr>
            <p:grpSpPr>
              <a:xfrm>
                <a:off x="-377824" y="3991865"/>
                <a:ext cx="1141616" cy="1072555"/>
                <a:chOff x="4046769" y="1482116"/>
                <a:chExt cx="1390180" cy="1306082"/>
              </a:xfrm>
            </p:grpSpPr>
            <p:grpSp>
              <p:nvGrpSpPr>
                <p:cNvPr id="512" name="Google Shape;512;p13"/>
                <p:cNvGrpSpPr/>
                <p:nvPr/>
              </p:nvGrpSpPr>
              <p:grpSpPr>
                <a:xfrm>
                  <a:off x="4046769" y="1482116"/>
                  <a:ext cx="1180258" cy="756167"/>
                  <a:chOff x="4046769" y="1482116"/>
                  <a:chExt cx="1180258" cy="756167"/>
                </a:xfrm>
              </p:grpSpPr>
              <p:grpSp>
                <p:nvGrpSpPr>
                  <p:cNvPr id="513" name="Google Shape;513;p13"/>
                  <p:cNvGrpSpPr/>
                  <p:nvPr/>
                </p:nvGrpSpPr>
                <p:grpSpPr>
                  <a:xfrm>
                    <a:off x="4046769" y="1482116"/>
                    <a:ext cx="873044" cy="756167"/>
                    <a:chOff x="8022925" y="186250"/>
                    <a:chExt cx="815700" cy="706500"/>
                  </a:xfrm>
                </p:grpSpPr>
                <p:sp>
                  <p:nvSpPr>
                    <p:cNvPr id="514" name="Google Shape;514;p13"/>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515" name="Google Shape;515;p13"/>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516" name="Google Shape;516;p13"/>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sp>
                <p:nvSpPr>
                  <p:cNvPr id="517" name="Google Shape;517;p13"/>
                  <p:cNvSpPr/>
                  <p:nvPr/>
                </p:nvSpPr>
                <p:spPr>
                  <a:xfrm>
                    <a:off x="4919827" y="1953578"/>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518" name="Google Shape;518;p13"/>
                  <p:cNvSpPr/>
                  <p:nvPr/>
                </p:nvSpPr>
                <p:spPr>
                  <a:xfrm>
                    <a:off x="4981813" y="15413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cxnSp>
              <p:nvCxnSpPr>
                <p:cNvPr id="519" name="Google Shape;519;p13"/>
                <p:cNvCxnSpPr>
                  <a:stCxn id="514" idx="1"/>
                  <a:endCxn id="520" idx="3"/>
                </p:cNvCxnSpPr>
                <p:nvPr/>
              </p:nvCxnSpPr>
              <p:spPr>
                <a:xfrm>
                  <a:off x="4730771" y="2238282"/>
                  <a:ext cx="206400" cy="333600"/>
                </a:xfrm>
                <a:prstGeom prst="straightConnector1">
                  <a:avLst/>
                </a:prstGeom>
                <a:noFill/>
                <a:ln w="9525" cap="flat" cmpd="sng">
                  <a:solidFill>
                    <a:schemeClr val="dk2"/>
                  </a:solidFill>
                  <a:prstDash val="solid"/>
                  <a:round/>
                  <a:headEnd type="none" w="med" len="med"/>
                  <a:tailEnd type="none" w="med" len="med"/>
                </a:ln>
              </p:spPr>
            </p:cxnSp>
            <p:sp>
              <p:nvSpPr>
                <p:cNvPr id="520" name="Google Shape;520;p13"/>
                <p:cNvSpPr/>
                <p:nvPr/>
              </p:nvSpPr>
              <p:spPr>
                <a:xfrm>
                  <a:off x="4937149" y="2355298"/>
                  <a:ext cx="499800" cy="4329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521" name="Google Shape;521;p13"/>
                <p:cNvSpPr/>
                <p:nvPr/>
              </p:nvSpPr>
              <p:spPr>
                <a:xfrm>
                  <a:off x="4988000" y="2399325"/>
                  <a:ext cx="398100" cy="345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sp>
            <p:nvSpPr>
              <p:cNvPr id="522" name="Google Shape;522;p13"/>
              <p:cNvSpPr/>
              <p:nvPr/>
            </p:nvSpPr>
            <p:spPr>
              <a:xfrm>
                <a:off x="39500" y="3323825"/>
                <a:ext cx="595500" cy="5157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523" name="Google Shape;523;p13"/>
              <p:cNvSpPr/>
              <p:nvPr/>
            </p:nvSpPr>
            <p:spPr>
              <a:xfrm>
                <a:off x="124250" y="3397200"/>
                <a:ext cx="426000" cy="3690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sp>
          <p:nvSpPr>
            <p:cNvPr id="524" name="Google Shape;524;p13"/>
            <p:cNvSpPr/>
            <p:nvPr/>
          </p:nvSpPr>
          <p:spPr>
            <a:xfrm flipH="1">
              <a:off x="8222213" y="122863"/>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sp>
          <p:nvSpPr>
            <p:cNvPr id="525" name="Google Shape;525;p13"/>
            <p:cNvSpPr/>
            <p:nvPr/>
          </p:nvSpPr>
          <p:spPr>
            <a:xfrm flipH="1">
              <a:off x="8829538" y="1285038"/>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Lato"/>
                <a:ea typeface="Lato"/>
                <a:cs typeface="Lato"/>
                <a:sym typeface="Lato"/>
              </a:endParaRPr>
            </a:p>
          </p:txBody>
        </p:sp>
      </p:grpSp>
      <p:sp>
        <p:nvSpPr>
          <p:cNvPr id="526" name="Google Shape;526;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27" name="Google Shape;527;p13"/>
          <p:cNvSpPr txBox="1">
            <a:spLocks noGrp="1"/>
          </p:cNvSpPr>
          <p:nvPr>
            <p:ph type="subTitle" idx="1"/>
          </p:nvPr>
        </p:nvSpPr>
        <p:spPr>
          <a:xfrm>
            <a:off x="950967" y="3023421"/>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Arial" panose="020B0604020202020204" pitchFamily="34" charset="0"/>
                <a:cs typeface="Arial" panose="020B0604020202020204" pitchFamily="34" charset="0"/>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dirty="0"/>
          </a:p>
        </p:txBody>
      </p:sp>
      <p:sp>
        <p:nvSpPr>
          <p:cNvPr id="528" name="Google Shape;528;p13"/>
          <p:cNvSpPr txBox="1">
            <a:spLocks noGrp="1"/>
          </p:cNvSpPr>
          <p:nvPr>
            <p:ph type="subTitle" idx="2"/>
          </p:nvPr>
        </p:nvSpPr>
        <p:spPr>
          <a:xfrm>
            <a:off x="950967" y="527037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Arial" panose="020B0604020202020204" pitchFamily="34" charset="0"/>
                <a:cs typeface="Arial" panose="020B0604020202020204" pitchFamily="34" charset="0"/>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dirty="0"/>
          </a:p>
        </p:txBody>
      </p:sp>
      <p:sp>
        <p:nvSpPr>
          <p:cNvPr id="529" name="Google Shape;529;p13"/>
          <p:cNvSpPr txBox="1">
            <a:spLocks noGrp="1"/>
          </p:cNvSpPr>
          <p:nvPr>
            <p:ph type="subTitle" idx="3"/>
          </p:nvPr>
        </p:nvSpPr>
        <p:spPr>
          <a:xfrm>
            <a:off x="4559000" y="527037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Arial" panose="020B0604020202020204" pitchFamily="34" charset="0"/>
                <a:cs typeface="Arial" panose="020B0604020202020204" pitchFamily="34" charset="0"/>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dirty="0"/>
          </a:p>
        </p:txBody>
      </p:sp>
      <p:sp>
        <p:nvSpPr>
          <p:cNvPr id="530" name="Google Shape;530;p13"/>
          <p:cNvSpPr txBox="1">
            <a:spLocks noGrp="1"/>
          </p:cNvSpPr>
          <p:nvPr>
            <p:ph type="subTitle" idx="4"/>
          </p:nvPr>
        </p:nvSpPr>
        <p:spPr>
          <a:xfrm>
            <a:off x="4559000" y="3023421"/>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Arial" panose="020B0604020202020204" pitchFamily="34" charset="0"/>
                <a:cs typeface="Arial" panose="020B0604020202020204" pitchFamily="34" charset="0"/>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dirty="0"/>
          </a:p>
        </p:txBody>
      </p:sp>
      <p:sp>
        <p:nvSpPr>
          <p:cNvPr id="531" name="Google Shape;531;p13"/>
          <p:cNvSpPr txBox="1">
            <a:spLocks noGrp="1"/>
          </p:cNvSpPr>
          <p:nvPr>
            <p:ph type="title" idx="5" hasCustomPrompt="1"/>
          </p:nvPr>
        </p:nvSpPr>
        <p:spPr>
          <a:xfrm>
            <a:off x="1887167" y="1804117"/>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32" name="Google Shape;532;p13"/>
          <p:cNvSpPr txBox="1">
            <a:spLocks noGrp="1"/>
          </p:cNvSpPr>
          <p:nvPr>
            <p:ph type="title" idx="6" hasCustomPrompt="1"/>
          </p:nvPr>
        </p:nvSpPr>
        <p:spPr>
          <a:xfrm>
            <a:off x="5495200" y="4051267"/>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33" name="Google Shape;533;p13"/>
          <p:cNvSpPr txBox="1">
            <a:spLocks noGrp="1"/>
          </p:cNvSpPr>
          <p:nvPr>
            <p:ph type="title" idx="7" hasCustomPrompt="1"/>
          </p:nvPr>
        </p:nvSpPr>
        <p:spPr>
          <a:xfrm>
            <a:off x="1887167" y="4051267"/>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34" name="Google Shape;534;p13"/>
          <p:cNvSpPr txBox="1">
            <a:spLocks noGrp="1"/>
          </p:cNvSpPr>
          <p:nvPr>
            <p:ph type="title" idx="8" hasCustomPrompt="1"/>
          </p:nvPr>
        </p:nvSpPr>
        <p:spPr>
          <a:xfrm>
            <a:off x="5495200" y="1804117"/>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35" name="Google Shape;535;p13"/>
          <p:cNvSpPr txBox="1">
            <a:spLocks noGrp="1"/>
          </p:cNvSpPr>
          <p:nvPr>
            <p:ph type="subTitle" idx="9"/>
          </p:nvPr>
        </p:nvSpPr>
        <p:spPr>
          <a:xfrm>
            <a:off x="8167033" y="527037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Arial" panose="020B0604020202020204" pitchFamily="34" charset="0"/>
                <a:cs typeface="Arial" panose="020B0604020202020204" pitchFamily="34" charset="0"/>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dirty="0"/>
          </a:p>
        </p:txBody>
      </p:sp>
      <p:sp>
        <p:nvSpPr>
          <p:cNvPr id="536" name="Google Shape;536;p13"/>
          <p:cNvSpPr txBox="1">
            <a:spLocks noGrp="1"/>
          </p:cNvSpPr>
          <p:nvPr>
            <p:ph type="subTitle" idx="13"/>
          </p:nvPr>
        </p:nvSpPr>
        <p:spPr>
          <a:xfrm>
            <a:off x="8167033" y="3023421"/>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Arial" panose="020B0604020202020204" pitchFamily="34" charset="0"/>
                <a:cs typeface="Arial" panose="020B0604020202020204" pitchFamily="34" charset="0"/>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dirty="0"/>
          </a:p>
        </p:txBody>
      </p:sp>
      <p:sp>
        <p:nvSpPr>
          <p:cNvPr id="537" name="Google Shape;537;p13"/>
          <p:cNvSpPr txBox="1">
            <a:spLocks noGrp="1"/>
          </p:cNvSpPr>
          <p:nvPr>
            <p:ph type="title" idx="14" hasCustomPrompt="1"/>
          </p:nvPr>
        </p:nvSpPr>
        <p:spPr>
          <a:xfrm>
            <a:off x="9103233" y="4051267"/>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38" name="Google Shape;538;p13"/>
          <p:cNvSpPr txBox="1">
            <a:spLocks noGrp="1"/>
          </p:cNvSpPr>
          <p:nvPr>
            <p:ph type="title" idx="15" hasCustomPrompt="1"/>
          </p:nvPr>
        </p:nvSpPr>
        <p:spPr>
          <a:xfrm>
            <a:off x="9103233" y="1804117"/>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39" name="Google Shape;539;p13"/>
          <p:cNvSpPr txBox="1">
            <a:spLocks noGrp="1"/>
          </p:cNvSpPr>
          <p:nvPr>
            <p:ph type="subTitle" idx="16"/>
          </p:nvPr>
        </p:nvSpPr>
        <p:spPr>
          <a:xfrm>
            <a:off x="950967" y="2582717"/>
            <a:ext cx="3074000" cy="51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Archivo"/>
              <a:buNone/>
              <a:defRPr sz="2667" b="1">
                <a:latin typeface="Archivo"/>
                <a:ea typeface="Archivo"/>
                <a:cs typeface="Archivo"/>
                <a:sym typeface="Archivo"/>
              </a:defRPr>
            </a:lvl1pPr>
            <a:lvl2pPr lvl="1" algn="ctr" rtl="0">
              <a:lnSpc>
                <a:spcPct val="115000"/>
              </a:lnSpc>
              <a:spcBef>
                <a:spcPts val="0"/>
              </a:spcBef>
              <a:spcAft>
                <a:spcPts val="0"/>
              </a:spcAft>
              <a:buSzPts val="2400"/>
              <a:buFont typeface="Archivo"/>
              <a:buNone/>
              <a:defRPr sz="3200" b="1">
                <a:latin typeface="Archivo"/>
                <a:ea typeface="Archivo"/>
                <a:cs typeface="Archivo"/>
                <a:sym typeface="Archivo"/>
              </a:defRPr>
            </a:lvl2pPr>
            <a:lvl3pPr lvl="2" algn="ctr" rtl="0">
              <a:lnSpc>
                <a:spcPct val="115000"/>
              </a:lnSpc>
              <a:spcBef>
                <a:spcPts val="0"/>
              </a:spcBef>
              <a:spcAft>
                <a:spcPts val="0"/>
              </a:spcAft>
              <a:buSzPts val="2400"/>
              <a:buFont typeface="Archivo"/>
              <a:buNone/>
              <a:defRPr sz="3200" b="1">
                <a:latin typeface="Archivo"/>
                <a:ea typeface="Archivo"/>
                <a:cs typeface="Archivo"/>
                <a:sym typeface="Archivo"/>
              </a:defRPr>
            </a:lvl3pPr>
            <a:lvl4pPr lvl="3" algn="ctr" rtl="0">
              <a:lnSpc>
                <a:spcPct val="115000"/>
              </a:lnSpc>
              <a:spcBef>
                <a:spcPts val="0"/>
              </a:spcBef>
              <a:spcAft>
                <a:spcPts val="0"/>
              </a:spcAft>
              <a:buSzPts val="2400"/>
              <a:buFont typeface="Archivo"/>
              <a:buNone/>
              <a:defRPr sz="3200" b="1">
                <a:latin typeface="Archivo"/>
                <a:ea typeface="Archivo"/>
                <a:cs typeface="Archivo"/>
                <a:sym typeface="Archivo"/>
              </a:defRPr>
            </a:lvl4pPr>
            <a:lvl5pPr lvl="4" algn="ctr" rtl="0">
              <a:lnSpc>
                <a:spcPct val="115000"/>
              </a:lnSpc>
              <a:spcBef>
                <a:spcPts val="0"/>
              </a:spcBef>
              <a:spcAft>
                <a:spcPts val="0"/>
              </a:spcAft>
              <a:buSzPts val="2400"/>
              <a:buFont typeface="Archivo"/>
              <a:buNone/>
              <a:defRPr sz="3200" b="1">
                <a:latin typeface="Archivo"/>
                <a:ea typeface="Archivo"/>
                <a:cs typeface="Archivo"/>
                <a:sym typeface="Archivo"/>
              </a:defRPr>
            </a:lvl5pPr>
            <a:lvl6pPr lvl="5" algn="ctr" rtl="0">
              <a:lnSpc>
                <a:spcPct val="115000"/>
              </a:lnSpc>
              <a:spcBef>
                <a:spcPts val="0"/>
              </a:spcBef>
              <a:spcAft>
                <a:spcPts val="0"/>
              </a:spcAft>
              <a:buSzPts val="2400"/>
              <a:buFont typeface="Archivo"/>
              <a:buNone/>
              <a:defRPr sz="3200" b="1">
                <a:latin typeface="Archivo"/>
                <a:ea typeface="Archivo"/>
                <a:cs typeface="Archivo"/>
                <a:sym typeface="Archivo"/>
              </a:defRPr>
            </a:lvl6pPr>
            <a:lvl7pPr lvl="6" algn="ctr" rtl="0">
              <a:lnSpc>
                <a:spcPct val="115000"/>
              </a:lnSpc>
              <a:spcBef>
                <a:spcPts val="0"/>
              </a:spcBef>
              <a:spcAft>
                <a:spcPts val="0"/>
              </a:spcAft>
              <a:buSzPts val="2400"/>
              <a:buFont typeface="Archivo"/>
              <a:buNone/>
              <a:defRPr sz="3200" b="1">
                <a:latin typeface="Archivo"/>
                <a:ea typeface="Archivo"/>
                <a:cs typeface="Archivo"/>
                <a:sym typeface="Archivo"/>
              </a:defRPr>
            </a:lvl7pPr>
            <a:lvl8pPr lvl="7" algn="ctr" rtl="0">
              <a:lnSpc>
                <a:spcPct val="115000"/>
              </a:lnSpc>
              <a:spcBef>
                <a:spcPts val="0"/>
              </a:spcBef>
              <a:spcAft>
                <a:spcPts val="0"/>
              </a:spcAft>
              <a:buSzPts val="2400"/>
              <a:buFont typeface="Archivo"/>
              <a:buNone/>
              <a:defRPr sz="3200" b="1">
                <a:latin typeface="Archivo"/>
                <a:ea typeface="Archivo"/>
                <a:cs typeface="Archivo"/>
                <a:sym typeface="Archivo"/>
              </a:defRPr>
            </a:lvl8pPr>
            <a:lvl9pPr lvl="8" algn="ctr" rtl="0">
              <a:lnSpc>
                <a:spcPct val="115000"/>
              </a:lnSpc>
              <a:spcBef>
                <a:spcPts val="0"/>
              </a:spcBef>
              <a:spcAft>
                <a:spcPts val="0"/>
              </a:spcAft>
              <a:buSzPts val="2400"/>
              <a:buFont typeface="Archivo"/>
              <a:buNone/>
              <a:defRPr sz="3200" b="1">
                <a:latin typeface="Archivo"/>
                <a:ea typeface="Archivo"/>
                <a:cs typeface="Archivo"/>
                <a:sym typeface="Archivo"/>
              </a:defRPr>
            </a:lvl9pPr>
          </a:lstStyle>
          <a:p>
            <a:endParaRPr/>
          </a:p>
        </p:txBody>
      </p:sp>
      <p:sp>
        <p:nvSpPr>
          <p:cNvPr id="540" name="Google Shape;540;p13"/>
          <p:cNvSpPr txBox="1">
            <a:spLocks noGrp="1"/>
          </p:cNvSpPr>
          <p:nvPr>
            <p:ph type="subTitle" idx="17"/>
          </p:nvPr>
        </p:nvSpPr>
        <p:spPr>
          <a:xfrm>
            <a:off x="950967" y="4829664"/>
            <a:ext cx="3074000" cy="51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Archivo"/>
              <a:buNone/>
              <a:defRPr sz="2667" b="1">
                <a:latin typeface="Archivo"/>
                <a:ea typeface="Archivo"/>
                <a:cs typeface="Archivo"/>
                <a:sym typeface="Archivo"/>
              </a:defRPr>
            </a:lvl1pPr>
            <a:lvl2pPr lvl="1" algn="ctr" rtl="0">
              <a:lnSpc>
                <a:spcPct val="115000"/>
              </a:lnSpc>
              <a:spcBef>
                <a:spcPts val="0"/>
              </a:spcBef>
              <a:spcAft>
                <a:spcPts val="0"/>
              </a:spcAft>
              <a:buSzPts val="2400"/>
              <a:buFont typeface="Archivo"/>
              <a:buNone/>
              <a:defRPr sz="3200" b="1">
                <a:latin typeface="Archivo"/>
                <a:ea typeface="Archivo"/>
                <a:cs typeface="Archivo"/>
                <a:sym typeface="Archivo"/>
              </a:defRPr>
            </a:lvl2pPr>
            <a:lvl3pPr lvl="2" algn="ctr" rtl="0">
              <a:lnSpc>
                <a:spcPct val="115000"/>
              </a:lnSpc>
              <a:spcBef>
                <a:spcPts val="0"/>
              </a:spcBef>
              <a:spcAft>
                <a:spcPts val="0"/>
              </a:spcAft>
              <a:buSzPts val="2400"/>
              <a:buFont typeface="Archivo"/>
              <a:buNone/>
              <a:defRPr sz="3200" b="1">
                <a:latin typeface="Archivo"/>
                <a:ea typeface="Archivo"/>
                <a:cs typeface="Archivo"/>
                <a:sym typeface="Archivo"/>
              </a:defRPr>
            </a:lvl3pPr>
            <a:lvl4pPr lvl="3" algn="ctr" rtl="0">
              <a:lnSpc>
                <a:spcPct val="115000"/>
              </a:lnSpc>
              <a:spcBef>
                <a:spcPts val="0"/>
              </a:spcBef>
              <a:spcAft>
                <a:spcPts val="0"/>
              </a:spcAft>
              <a:buSzPts val="2400"/>
              <a:buFont typeface="Archivo"/>
              <a:buNone/>
              <a:defRPr sz="3200" b="1">
                <a:latin typeface="Archivo"/>
                <a:ea typeface="Archivo"/>
                <a:cs typeface="Archivo"/>
                <a:sym typeface="Archivo"/>
              </a:defRPr>
            </a:lvl4pPr>
            <a:lvl5pPr lvl="4" algn="ctr" rtl="0">
              <a:lnSpc>
                <a:spcPct val="115000"/>
              </a:lnSpc>
              <a:spcBef>
                <a:spcPts val="0"/>
              </a:spcBef>
              <a:spcAft>
                <a:spcPts val="0"/>
              </a:spcAft>
              <a:buSzPts val="2400"/>
              <a:buFont typeface="Archivo"/>
              <a:buNone/>
              <a:defRPr sz="3200" b="1">
                <a:latin typeface="Archivo"/>
                <a:ea typeface="Archivo"/>
                <a:cs typeface="Archivo"/>
                <a:sym typeface="Archivo"/>
              </a:defRPr>
            </a:lvl5pPr>
            <a:lvl6pPr lvl="5" algn="ctr" rtl="0">
              <a:lnSpc>
                <a:spcPct val="115000"/>
              </a:lnSpc>
              <a:spcBef>
                <a:spcPts val="0"/>
              </a:spcBef>
              <a:spcAft>
                <a:spcPts val="0"/>
              </a:spcAft>
              <a:buSzPts val="2400"/>
              <a:buFont typeface="Archivo"/>
              <a:buNone/>
              <a:defRPr sz="3200" b="1">
                <a:latin typeface="Archivo"/>
                <a:ea typeface="Archivo"/>
                <a:cs typeface="Archivo"/>
                <a:sym typeface="Archivo"/>
              </a:defRPr>
            </a:lvl6pPr>
            <a:lvl7pPr lvl="6" algn="ctr" rtl="0">
              <a:lnSpc>
                <a:spcPct val="115000"/>
              </a:lnSpc>
              <a:spcBef>
                <a:spcPts val="0"/>
              </a:spcBef>
              <a:spcAft>
                <a:spcPts val="0"/>
              </a:spcAft>
              <a:buSzPts val="2400"/>
              <a:buFont typeface="Archivo"/>
              <a:buNone/>
              <a:defRPr sz="3200" b="1">
                <a:latin typeface="Archivo"/>
                <a:ea typeface="Archivo"/>
                <a:cs typeface="Archivo"/>
                <a:sym typeface="Archivo"/>
              </a:defRPr>
            </a:lvl7pPr>
            <a:lvl8pPr lvl="7" algn="ctr" rtl="0">
              <a:lnSpc>
                <a:spcPct val="115000"/>
              </a:lnSpc>
              <a:spcBef>
                <a:spcPts val="0"/>
              </a:spcBef>
              <a:spcAft>
                <a:spcPts val="0"/>
              </a:spcAft>
              <a:buSzPts val="2400"/>
              <a:buFont typeface="Archivo"/>
              <a:buNone/>
              <a:defRPr sz="3200" b="1">
                <a:latin typeface="Archivo"/>
                <a:ea typeface="Archivo"/>
                <a:cs typeface="Archivo"/>
                <a:sym typeface="Archivo"/>
              </a:defRPr>
            </a:lvl8pPr>
            <a:lvl9pPr lvl="8" algn="ctr" rtl="0">
              <a:lnSpc>
                <a:spcPct val="115000"/>
              </a:lnSpc>
              <a:spcBef>
                <a:spcPts val="0"/>
              </a:spcBef>
              <a:spcAft>
                <a:spcPts val="0"/>
              </a:spcAft>
              <a:buSzPts val="2400"/>
              <a:buFont typeface="Archivo"/>
              <a:buNone/>
              <a:defRPr sz="3200" b="1">
                <a:latin typeface="Archivo"/>
                <a:ea typeface="Archivo"/>
                <a:cs typeface="Archivo"/>
                <a:sym typeface="Archivo"/>
              </a:defRPr>
            </a:lvl9pPr>
          </a:lstStyle>
          <a:p>
            <a:endParaRPr/>
          </a:p>
        </p:txBody>
      </p:sp>
      <p:sp>
        <p:nvSpPr>
          <p:cNvPr id="541" name="Google Shape;541;p13"/>
          <p:cNvSpPr txBox="1">
            <a:spLocks noGrp="1"/>
          </p:cNvSpPr>
          <p:nvPr>
            <p:ph type="subTitle" idx="18"/>
          </p:nvPr>
        </p:nvSpPr>
        <p:spPr>
          <a:xfrm>
            <a:off x="4559000" y="4829664"/>
            <a:ext cx="3074000" cy="51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Archivo"/>
              <a:buNone/>
              <a:defRPr sz="2667" b="1">
                <a:latin typeface="Archivo"/>
                <a:ea typeface="Archivo"/>
                <a:cs typeface="Archivo"/>
                <a:sym typeface="Archivo"/>
              </a:defRPr>
            </a:lvl1pPr>
            <a:lvl2pPr lvl="1" algn="ctr" rtl="0">
              <a:lnSpc>
                <a:spcPct val="115000"/>
              </a:lnSpc>
              <a:spcBef>
                <a:spcPts val="0"/>
              </a:spcBef>
              <a:spcAft>
                <a:spcPts val="0"/>
              </a:spcAft>
              <a:buSzPts val="2400"/>
              <a:buFont typeface="Archivo"/>
              <a:buNone/>
              <a:defRPr sz="3200" b="1">
                <a:latin typeface="Archivo"/>
                <a:ea typeface="Archivo"/>
                <a:cs typeface="Archivo"/>
                <a:sym typeface="Archivo"/>
              </a:defRPr>
            </a:lvl2pPr>
            <a:lvl3pPr lvl="2" algn="ctr" rtl="0">
              <a:lnSpc>
                <a:spcPct val="115000"/>
              </a:lnSpc>
              <a:spcBef>
                <a:spcPts val="0"/>
              </a:spcBef>
              <a:spcAft>
                <a:spcPts val="0"/>
              </a:spcAft>
              <a:buSzPts val="2400"/>
              <a:buFont typeface="Archivo"/>
              <a:buNone/>
              <a:defRPr sz="3200" b="1">
                <a:latin typeface="Archivo"/>
                <a:ea typeface="Archivo"/>
                <a:cs typeface="Archivo"/>
                <a:sym typeface="Archivo"/>
              </a:defRPr>
            </a:lvl3pPr>
            <a:lvl4pPr lvl="3" algn="ctr" rtl="0">
              <a:lnSpc>
                <a:spcPct val="115000"/>
              </a:lnSpc>
              <a:spcBef>
                <a:spcPts val="0"/>
              </a:spcBef>
              <a:spcAft>
                <a:spcPts val="0"/>
              </a:spcAft>
              <a:buSzPts val="2400"/>
              <a:buFont typeface="Archivo"/>
              <a:buNone/>
              <a:defRPr sz="3200" b="1">
                <a:latin typeface="Archivo"/>
                <a:ea typeface="Archivo"/>
                <a:cs typeface="Archivo"/>
                <a:sym typeface="Archivo"/>
              </a:defRPr>
            </a:lvl4pPr>
            <a:lvl5pPr lvl="4" algn="ctr" rtl="0">
              <a:lnSpc>
                <a:spcPct val="115000"/>
              </a:lnSpc>
              <a:spcBef>
                <a:spcPts val="0"/>
              </a:spcBef>
              <a:spcAft>
                <a:spcPts val="0"/>
              </a:spcAft>
              <a:buSzPts val="2400"/>
              <a:buFont typeface="Archivo"/>
              <a:buNone/>
              <a:defRPr sz="3200" b="1">
                <a:latin typeface="Archivo"/>
                <a:ea typeface="Archivo"/>
                <a:cs typeface="Archivo"/>
                <a:sym typeface="Archivo"/>
              </a:defRPr>
            </a:lvl5pPr>
            <a:lvl6pPr lvl="5" algn="ctr" rtl="0">
              <a:lnSpc>
                <a:spcPct val="115000"/>
              </a:lnSpc>
              <a:spcBef>
                <a:spcPts val="0"/>
              </a:spcBef>
              <a:spcAft>
                <a:spcPts val="0"/>
              </a:spcAft>
              <a:buSzPts val="2400"/>
              <a:buFont typeface="Archivo"/>
              <a:buNone/>
              <a:defRPr sz="3200" b="1">
                <a:latin typeface="Archivo"/>
                <a:ea typeface="Archivo"/>
                <a:cs typeface="Archivo"/>
                <a:sym typeface="Archivo"/>
              </a:defRPr>
            </a:lvl6pPr>
            <a:lvl7pPr lvl="6" algn="ctr" rtl="0">
              <a:lnSpc>
                <a:spcPct val="115000"/>
              </a:lnSpc>
              <a:spcBef>
                <a:spcPts val="0"/>
              </a:spcBef>
              <a:spcAft>
                <a:spcPts val="0"/>
              </a:spcAft>
              <a:buSzPts val="2400"/>
              <a:buFont typeface="Archivo"/>
              <a:buNone/>
              <a:defRPr sz="3200" b="1">
                <a:latin typeface="Archivo"/>
                <a:ea typeface="Archivo"/>
                <a:cs typeface="Archivo"/>
                <a:sym typeface="Archivo"/>
              </a:defRPr>
            </a:lvl7pPr>
            <a:lvl8pPr lvl="7" algn="ctr" rtl="0">
              <a:lnSpc>
                <a:spcPct val="115000"/>
              </a:lnSpc>
              <a:spcBef>
                <a:spcPts val="0"/>
              </a:spcBef>
              <a:spcAft>
                <a:spcPts val="0"/>
              </a:spcAft>
              <a:buSzPts val="2400"/>
              <a:buFont typeface="Archivo"/>
              <a:buNone/>
              <a:defRPr sz="3200" b="1">
                <a:latin typeface="Archivo"/>
                <a:ea typeface="Archivo"/>
                <a:cs typeface="Archivo"/>
                <a:sym typeface="Archivo"/>
              </a:defRPr>
            </a:lvl8pPr>
            <a:lvl9pPr lvl="8" algn="ctr" rtl="0">
              <a:lnSpc>
                <a:spcPct val="115000"/>
              </a:lnSpc>
              <a:spcBef>
                <a:spcPts val="0"/>
              </a:spcBef>
              <a:spcAft>
                <a:spcPts val="0"/>
              </a:spcAft>
              <a:buSzPts val="2400"/>
              <a:buFont typeface="Archivo"/>
              <a:buNone/>
              <a:defRPr sz="3200" b="1">
                <a:latin typeface="Archivo"/>
                <a:ea typeface="Archivo"/>
                <a:cs typeface="Archivo"/>
                <a:sym typeface="Archivo"/>
              </a:defRPr>
            </a:lvl9pPr>
          </a:lstStyle>
          <a:p>
            <a:endParaRPr/>
          </a:p>
        </p:txBody>
      </p:sp>
      <p:sp>
        <p:nvSpPr>
          <p:cNvPr id="542" name="Google Shape;542;p13"/>
          <p:cNvSpPr txBox="1">
            <a:spLocks noGrp="1"/>
          </p:cNvSpPr>
          <p:nvPr>
            <p:ph type="subTitle" idx="19"/>
          </p:nvPr>
        </p:nvSpPr>
        <p:spPr>
          <a:xfrm>
            <a:off x="4559000" y="2582717"/>
            <a:ext cx="3074000" cy="51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Archivo"/>
              <a:buNone/>
              <a:defRPr sz="2667" b="1">
                <a:latin typeface="Archivo"/>
                <a:ea typeface="Archivo"/>
                <a:cs typeface="Archivo"/>
                <a:sym typeface="Archivo"/>
              </a:defRPr>
            </a:lvl1pPr>
            <a:lvl2pPr lvl="1" algn="ctr" rtl="0">
              <a:lnSpc>
                <a:spcPct val="115000"/>
              </a:lnSpc>
              <a:spcBef>
                <a:spcPts val="0"/>
              </a:spcBef>
              <a:spcAft>
                <a:spcPts val="0"/>
              </a:spcAft>
              <a:buSzPts val="2400"/>
              <a:buFont typeface="Archivo"/>
              <a:buNone/>
              <a:defRPr sz="3200" b="1">
                <a:latin typeface="Archivo"/>
                <a:ea typeface="Archivo"/>
                <a:cs typeface="Archivo"/>
                <a:sym typeface="Archivo"/>
              </a:defRPr>
            </a:lvl2pPr>
            <a:lvl3pPr lvl="2" algn="ctr" rtl="0">
              <a:lnSpc>
                <a:spcPct val="115000"/>
              </a:lnSpc>
              <a:spcBef>
                <a:spcPts val="0"/>
              </a:spcBef>
              <a:spcAft>
                <a:spcPts val="0"/>
              </a:spcAft>
              <a:buSzPts val="2400"/>
              <a:buFont typeface="Archivo"/>
              <a:buNone/>
              <a:defRPr sz="3200" b="1">
                <a:latin typeface="Archivo"/>
                <a:ea typeface="Archivo"/>
                <a:cs typeface="Archivo"/>
                <a:sym typeface="Archivo"/>
              </a:defRPr>
            </a:lvl3pPr>
            <a:lvl4pPr lvl="3" algn="ctr" rtl="0">
              <a:lnSpc>
                <a:spcPct val="115000"/>
              </a:lnSpc>
              <a:spcBef>
                <a:spcPts val="0"/>
              </a:spcBef>
              <a:spcAft>
                <a:spcPts val="0"/>
              </a:spcAft>
              <a:buSzPts val="2400"/>
              <a:buFont typeface="Archivo"/>
              <a:buNone/>
              <a:defRPr sz="3200" b="1">
                <a:latin typeface="Archivo"/>
                <a:ea typeface="Archivo"/>
                <a:cs typeface="Archivo"/>
                <a:sym typeface="Archivo"/>
              </a:defRPr>
            </a:lvl4pPr>
            <a:lvl5pPr lvl="4" algn="ctr" rtl="0">
              <a:lnSpc>
                <a:spcPct val="115000"/>
              </a:lnSpc>
              <a:spcBef>
                <a:spcPts val="0"/>
              </a:spcBef>
              <a:spcAft>
                <a:spcPts val="0"/>
              </a:spcAft>
              <a:buSzPts val="2400"/>
              <a:buFont typeface="Archivo"/>
              <a:buNone/>
              <a:defRPr sz="3200" b="1">
                <a:latin typeface="Archivo"/>
                <a:ea typeface="Archivo"/>
                <a:cs typeface="Archivo"/>
                <a:sym typeface="Archivo"/>
              </a:defRPr>
            </a:lvl5pPr>
            <a:lvl6pPr lvl="5" algn="ctr" rtl="0">
              <a:lnSpc>
                <a:spcPct val="115000"/>
              </a:lnSpc>
              <a:spcBef>
                <a:spcPts val="0"/>
              </a:spcBef>
              <a:spcAft>
                <a:spcPts val="0"/>
              </a:spcAft>
              <a:buSzPts val="2400"/>
              <a:buFont typeface="Archivo"/>
              <a:buNone/>
              <a:defRPr sz="3200" b="1">
                <a:latin typeface="Archivo"/>
                <a:ea typeface="Archivo"/>
                <a:cs typeface="Archivo"/>
                <a:sym typeface="Archivo"/>
              </a:defRPr>
            </a:lvl6pPr>
            <a:lvl7pPr lvl="6" algn="ctr" rtl="0">
              <a:lnSpc>
                <a:spcPct val="115000"/>
              </a:lnSpc>
              <a:spcBef>
                <a:spcPts val="0"/>
              </a:spcBef>
              <a:spcAft>
                <a:spcPts val="0"/>
              </a:spcAft>
              <a:buSzPts val="2400"/>
              <a:buFont typeface="Archivo"/>
              <a:buNone/>
              <a:defRPr sz="3200" b="1">
                <a:latin typeface="Archivo"/>
                <a:ea typeface="Archivo"/>
                <a:cs typeface="Archivo"/>
                <a:sym typeface="Archivo"/>
              </a:defRPr>
            </a:lvl7pPr>
            <a:lvl8pPr lvl="7" algn="ctr" rtl="0">
              <a:lnSpc>
                <a:spcPct val="115000"/>
              </a:lnSpc>
              <a:spcBef>
                <a:spcPts val="0"/>
              </a:spcBef>
              <a:spcAft>
                <a:spcPts val="0"/>
              </a:spcAft>
              <a:buSzPts val="2400"/>
              <a:buFont typeface="Archivo"/>
              <a:buNone/>
              <a:defRPr sz="3200" b="1">
                <a:latin typeface="Archivo"/>
                <a:ea typeface="Archivo"/>
                <a:cs typeface="Archivo"/>
                <a:sym typeface="Archivo"/>
              </a:defRPr>
            </a:lvl8pPr>
            <a:lvl9pPr lvl="8" algn="ctr" rtl="0">
              <a:lnSpc>
                <a:spcPct val="115000"/>
              </a:lnSpc>
              <a:spcBef>
                <a:spcPts val="0"/>
              </a:spcBef>
              <a:spcAft>
                <a:spcPts val="0"/>
              </a:spcAft>
              <a:buSzPts val="2400"/>
              <a:buFont typeface="Archivo"/>
              <a:buNone/>
              <a:defRPr sz="3200" b="1">
                <a:latin typeface="Archivo"/>
                <a:ea typeface="Archivo"/>
                <a:cs typeface="Archivo"/>
                <a:sym typeface="Archivo"/>
              </a:defRPr>
            </a:lvl9pPr>
          </a:lstStyle>
          <a:p>
            <a:endParaRPr/>
          </a:p>
        </p:txBody>
      </p:sp>
      <p:sp>
        <p:nvSpPr>
          <p:cNvPr id="543" name="Google Shape;543;p13"/>
          <p:cNvSpPr txBox="1">
            <a:spLocks noGrp="1"/>
          </p:cNvSpPr>
          <p:nvPr>
            <p:ph type="subTitle" idx="20"/>
          </p:nvPr>
        </p:nvSpPr>
        <p:spPr>
          <a:xfrm>
            <a:off x="8167033" y="4829664"/>
            <a:ext cx="3074000" cy="51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Archivo"/>
              <a:buNone/>
              <a:defRPr sz="2667" b="1">
                <a:latin typeface="Archivo"/>
                <a:ea typeface="Archivo"/>
                <a:cs typeface="Archivo"/>
                <a:sym typeface="Archivo"/>
              </a:defRPr>
            </a:lvl1pPr>
            <a:lvl2pPr lvl="1" algn="ctr" rtl="0">
              <a:lnSpc>
                <a:spcPct val="115000"/>
              </a:lnSpc>
              <a:spcBef>
                <a:spcPts val="0"/>
              </a:spcBef>
              <a:spcAft>
                <a:spcPts val="0"/>
              </a:spcAft>
              <a:buSzPts val="2400"/>
              <a:buFont typeface="Archivo"/>
              <a:buNone/>
              <a:defRPr sz="3200" b="1">
                <a:latin typeface="Archivo"/>
                <a:ea typeface="Archivo"/>
                <a:cs typeface="Archivo"/>
                <a:sym typeface="Archivo"/>
              </a:defRPr>
            </a:lvl2pPr>
            <a:lvl3pPr lvl="2" algn="ctr" rtl="0">
              <a:lnSpc>
                <a:spcPct val="115000"/>
              </a:lnSpc>
              <a:spcBef>
                <a:spcPts val="0"/>
              </a:spcBef>
              <a:spcAft>
                <a:spcPts val="0"/>
              </a:spcAft>
              <a:buSzPts val="2400"/>
              <a:buFont typeface="Archivo"/>
              <a:buNone/>
              <a:defRPr sz="3200" b="1">
                <a:latin typeface="Archivo"/>
                <a:ea typeface="Archivo"/>
                <a:cs typeface="Archivo"/>
                <a:sym typeface="Archivo"/>
              </a:defRPr>
            </a:lvl3pPr>
            <a:lvl4pPr lvl="3" algn="ctr" rtl="0">
              <a:lnSpc>
                <a:spcPct val="115000"/>
              </a:lnSpc>
              <a:spcBef>
                <a:spcPts val="0"/>
              </a:spcBef>
              <a:spcAft>
                <a:spcPts val="0"/>
              </a:spcAft>
              <a:buSzPts val="2400"/>
              <a:buFont typeface="Archivo"/>
              <a:buNone/>
              <a:defRPr sz="3200" b="1">
                <a:latin typeface="Archivo"/>
                <a:ea typeface="Archivo"/>
                <a:cs typeface="Archivo"/>
                <a:sym typeface="Archivo"/>
              </a:defRPr>
            </a:lvl4pPr>
            <a:lvl5pPr lvl="4" algn="ctr" rtl="0">
              <a:lnSpc>
                <a:spcPct val="115000"/>
              </a:lnSpc>
              <a:spcBef>
                <a:spcPts val="0"/>
              </a:spcBef>
              <a:spcAft>
                <a:spcPts val="0"/>
              </a:spcAft>
              <a:buSzPts val="2400"/>
              <a:buFont typeface="Archivo"/>
              <a:buNone/>
              <a:defRPr sz="3200" b="1">
                <a:latin typeface="Archivo"/>
                <a:ea typeface="Archivo"/>
                <a:cs typeface="Archivo"/>
                <a:sym typeface="Archivo"/>
              </a:defRPr>
            </a:lvl5pPr>
            <a:lvl6pPr lvl="5" algn="ctr" rtl="0">
              <a:lnSpc>
                <a:spcPct val="115000"/>
              </a:lnSpc>
              <a:spcBef>
                <a:spcPts val="0"/>
              </a:spcBef>
              <a:spcAft>
                <a:spcPts val="0"/>
              </a:spcAft>
              <a:buSzPts val="2400"/>
              <a:buFont typeface="Archivo"/>
              <a:buNone/>
              <a:defRPr sz="3200" b="1">
                <a:latin typeface="Archivo"/>
                <a:ea typeface="Archivo"/>
                <a:cs typeface="Archivo"/>
                <a:sym typeface="Archivo"/>
              </a:defRPr>
            </a:lvl6pPr>
            <a:lvl7pPr lvl="6" algn="ctr" rtl="0">
              <a:lnSpc>
                <a:spcPct val="115000"/>
              </a:lnSpc>
              <a:spcBef>
                <a:spcPts val="0"/>
              </a:spcBef>
              <a:spcAft>
                <a:spcPts val="0"/>
              </a:spcAft>
              <a:buSzPts val="2400"/>
              <a:buFont typeface="Archivo"/>
              <a:buNone/>
              <a:defRPr sz="3200" b="1">
                <a:latin typeface="Archivo"/>
                <a:ea typeface="Archivo"/>
                <a:cs typeface="Archivo"/>
                <a:sym typeface="Archivo"/>
              </a:defRPr>
            </a:lvl7pPr>
            <a:lvl8pPr lvl="7" algn="ctr" rtl="0">
              <a:lnSpc>
                <a:spcPct val="115000"/>
              </a:lnSpc>
              <a:spcBef>
                <a:spcPts val="0"/>
              </a:spcBef>
              <a:spcAft>
                <a:spcPts val="0"/>
              </a:spcAft>
              <a:buSzPts val="2400"/>
              <a:buFont typeface="Archivo"/>
              <a:buNone/>
              <a:defRPr sz="3200" b="1">
                <a:latin typeface="Archivo"/>
                <a:ea typeface="Archivo"/>
                <a:cs typeface="Archivo"/>
                <a:sym typeface="Archivo"/>
              </a:defRPr>
            </a:lvl8pPr>
            <a:lvl9pPr lvl="8" algn="ctr" rtl="0">
              <a:lnSpc>
                <a:spcPct val="115000"/>
              </a:lnSpc>
              <a:spcBef>
                <a:spcPts val="0"/>
              </a:spcBef>
              <a:spcAft>
                <a:spcPts val="0"/>
              </a:spcAft>
              <a:buSzPts val="2400"/>
              <a:buFont typeface="Archivo"/>
              <a:buNone/>
              <a:defRPr sz="3200" b="1">
                <a:latin typeface="Archivo"/>
                <a:ea typeface="Archivo"/>
                <a:cs typeface="Archivo"/>
                <a:sym typeface="Archivo"/>
              </a:defRPr>
            </a:lvl9pPr>
          </a:lstStyle>
          <a:p>
            <a:endParaRPr/>
          </a:p>
        </p:txBody>
      </p:sp>
      <p:sp>
        <p:nvSpPr>
          <p:cNvPr id="544" name="Google Shape;544;p13"/>
          <p:cNvSpPr txBox="1">
            <a:spLocks noGrp="1"/>
          </p:cNvSpPr>
          <p:nvPr>
            <p:ph type="subTitle" idx="21"/>
          </p:nvPr>
        </p:nvSpPr>
        <p:spPr>
          <a:xfrm>
            <a:off x="8167033" y="2582717"/>
            <a:ext cx="3074000" cy="51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Archivo"/>
              <a:buNone/>
              <a:defRPr sz="2667" b="1">
                <a:latin typeface="Archivo"/>
                <a:ea typeface="Archivo"/>
                <a:cs typeface="Archivo"/>
                <a:sym typeface="Archivo"/>
              </a:defRPr>
            </a:lvl1pPr>
            <a:lvl2pPr lvl="1" algn="ctr" rtl="0">
              <a:lnSpc>
                <a:spcPct val="115000"/>
              </a:lnSpc>
              <a:spcBef>
                <a:spcPts val="0"/>
              </a:spcBef>
              <a:spcAft>
                <a:spcPts val="0"/>
              </a:spcAft>
              <a:buSzPts val="2400"/>
              <a:buFont typeface="Archivo"/>
              <a:buNone/>
              <a:defRPr sz="3200" b="1">
                <a:latin typeface="Archivo"/>
                <a:ea typeface="Archivo"/>
                <a:cs typeface="Archivo"/>
                <a:sym typeface="Archivo"/>
              </a:defRPr>
            </a:lvl2pPr>
            <a:lvl3pPr lvl="2" algn="ctr" rtl="0">
              <a:lnSpc>
                <a:spcPct val="115000"/>
              </a:lnSpc>
              <a:spcBef>
                <a:spcPts val="0"/>
              </a:spcBef>
              <a:spcAft>
                <a:spcPts val="0"/>
              </a:spcAft>
              <a:buSzPts val="2400"/>
              <a:buFont typeface="Archivo"/>
              <a:buNone/>
              <a:defRPr sz="3200" b="1">
                <a:latin typeface="Archivo"/>
                <a:ea typeface="Archivo"/>
                <a:cs typeface="Archivo"/>
                <a:sym typeface="Archivo"/>
              </a:defRPr>
            </a:lvl3pPr>
            <a:lvl4pPr lvl="3" algn="ctr" rtl="0">
              <a:lnSpc>
                <a:spcPct val="115000"/>
              </a:lnSpc>
              <a:spcBef>
                <a:spcPts val="0"/>
              </a:spcBef>
              <a:spcAft>
                <a:spcPts val="0"/>
              </a:spcAft>
              <a:buSzPts val="2400"/>
              <a:buFont typeface="Archivo"/>
              <a:buNone/>
              <a:defRPr sz="3200" b="1">
                <a:latin typeface="Archivo"/>
                <a:ea typeface="Archivo"/>
                <a:cs typeface="Archivo"/>
                <a:sym typeface="Archivo"/>
              </a:defRPr>
            </a:lvl4pPr>
            <a:lvl5pPr lvl="4" algn="ctr" rtl="0">
              <a:lnSpc>
                <a:spcPct val="115000"/>
              </a:lnSpc>
              <a:spcBef>
                <a:spcPts val="0"/>
              </a:spcBef>
              <a:spcAft>
                <a:spcPts val="0"/>
              </a:spcAft>
              <a:buSzPts val="2400"/>
              <a:buFont typeface="Archivo"/>
              <a:buNone/>
              <a:defRPr sz="3200" b="1">
                <a:latin typeface="Archivo"/>
                <a:ea typeface="Archivo"/>
                <a:cs typeface="Archivo"/>
                <a:sym typeface="Archivo"/>
              </a:defRPr>
            </a:lvl5pPr>
            <a:lvl6pPr lvl="5" algn="ctr" rtl="0">
              <a:lnSpc>
                <a:spcPct val="115000"/>
              </a:lnSpc>
              <a:spcBef>
                <a:spcPts val="0"/>
              </a:spcBef>
              <a:spcAft>
                <a:spcPts val="0"/>
              </a:spcAft>
              <a:buSzPts val="2400"/>
              <a:buFont typeface="Archivo"/>
              <a:buNone/>
              <a:defRPr sz="3200" b="1">
                <a:latin typeface="Archivo"/>
                <a:ea typeface="Archivo"/>
                <a:cs typeface="Archivo"/>
                <a:sym typeface="Archivo"/>
              </a:defRPr>
            </a:lvl6pPr>
            <a:lvl7pPr lvl="6" algn="ctr" rtl="0">
              <a:lnSpc>
                <a:spcPct val="115000"/>
              </a:lnSpc>
              <a:spcBef>
                <a:spcPts val="0"/>
              </a:spcBef>
              <a:spcAft>
                <a:spcPts val="0"/>
              </a:spcAft>
              <a:buSzPts val="2400"/>
              <a:buFont typeface="Archivo"/>
              <a:buNone/>
              <a:defRPr sz="3200" b="1">
                <a:latin typeface="Archivo"/>
                <a:ea typeface="Archivo"/>
                <a:cs typeface="Archivo"/>
                <a:sym typeface="Archivo"/>
              </a:defRPr>
            </a:lvl7pPr>
            <a:lvl8pPr lvl="7" algn="ctr" rtl="0">
              <a:lnSpc>
                <a:spcPct val="115000"/>
              </a:lnSpc>
              <a:spcBef>
                <a:spcPts val="0"/>
              </a:spcBef>
              <a:spcAft>
                <a:spcPts val="0"/>
              </a:spcAft>
              <a:buSzPts val="2400"/>
              <a:buFont typeface="Archivo"/>
              <a:buNone/>
              <a:defRPr sz="3200" b="1">
                <a:latin typeface="Archivo"/>
                <a:ea typeface="Archivo"/>
                <a:cs typeface="Archivo"/>
                <a:sym typeface="Archivo"/>
              </a:defRPr>
            </a:lvl8pPr>
            <a:lvl9pPr lvl="8" algn="ctr" rtl="0">
              <a:lnSpc>
                <a:spcPct val="115000"/>
              </a:lnSpc>
              <a:spcBef>
                <a:spcPts val="0"/>
              </a:spcBef>
              <a:spcAft>
                <a:spcPts val="0"/>
              </a:spcAft>
              <a:buSzPts val="2400"/>
              <a:buFont typeface="Archivo"/>
              <a:buNone/>
              <a:defRPr sz="3200" b="1">
                <a:latin typeface="Archivo"/>
                <a:ea typeface="Archivo"/>
                <a:cs typeface="Archivo"/>
                <a:sym typeface="Archivo"/>
              </a:defRPr>
            </a:lvl9pPr>
          </a:lstStyle>
          <a:p>
            <a:endParaRPr/>
          </a:p>
        </p:txBody>
      </p:sp>
    </p:spTree>
    <p:extLst>
      <p:ext uri="{BB962C8B-B14F-4D97-AF65-F5344CB8AC3E}">
        <p14:creationId xmlns:p14="http://schemas.microsoft.com/office/powerpoint/2010/main" val="2793996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5155A4-E076-23BD-DD40-2B988DE262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EA7EA4-AEFF-7E1A-9970-C0B04E1531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E3D9B2-6C2D-2E3F-8B3E-848797A132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5DC351-8FE4-4E37-896C-B37328B7F24F}" type="datetimeFigureOut">
              <a:rPr lang="en-IN" smtClean="0"/>
              <a:t>08-02-2026</a:t>
            </a:fld>
            <a:endParaRPr lang="en-IN"/>
          </a:p>
        </p:txBody>
      </p:sp>
      <p:sp>
        <p:nvSpPr>
          <p:cNvPr id="5" name="Footer Placeholder 4">
            <a:extLst>
              <a:ext uri="{FF2B5EF4-FFF2-40B4-BE49-F238E27FC236}">
                <a16:creationId xmlns:a16="http://schemas.microsoft.com/office/drawing/2014/main" id="{5BA1E749-337A-643C-BBB3-CF575179C7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868945-12ED-04BB-F960-A79A21632A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B4357A-0394-4B8A-A5CD-3C1CA2DADA97}" type="slidenum">
              <a:rPr lang="en-IN" smtClean="0"/>
              <a:t>‹#›</a:t>
            </a:fld>
            <a:endParaRPr lang="en-IN"/>
          </a:p>
        </p:txBody>
      </p:sp>
    </p:spTree>
    <p:extLst>
      <p:ext uri="{BB962C8B-B14F-4D97-AF65-F5344CB8AC3E}">
        <p14:creationId xmlns:p14="http://schemas.microsoft.com/office/powerpoint/2010/main" val="2278069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hyperlink" Target="https://365financialanalyst.com/knowledge-hub/financial-analysis/valuation-ratios/" TargetMode="External"/><Relationship Id="rId3" Type="http://schemas.openxmlformats.org/officeDocument/2006/relationships/hyperlink" Target="https://corporatefinanceinstitute.com/resources/accounting/profitability-ratios/" TargetMode="External"/><Relationship Id="rId7" Type="http://schemas.openxmlformats.org/officeDocument/2006/relationships/hyperlink" Target="https://www.investopedia.com/terms/d/dividend.asp"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hyperlink" Target="https://www.investopedia.com/terms/g/guidance.asp" TargetMode="External"/><Relationship Id="rId5" Type="http://schemas.openxmlformats.org/officeDocument/2006/relationships/hyperlink" Target="https://corporatefinanceinstitute.com/resources/accounting/statement-of-cash-flows/" TargetMode="External"/><Relationship Id="rId10" Type="http://schemas.openxmlformats.org/officeDocument/2006/relationships/hyperlink" Target="https://finzer.io/en/blog/what-fundamental-analysis-types-indicators-examples" TargetMode="External"/><Relationship Id="rId4" Type="http://schemas.openxmlformats.org/officeDocument/2006/relationships/hyperlink" Target="https://www.investopedia.com/terms/r/returnonequity.asp" TargetMode="External"/><Relationship Id="rId9" Type="http://schemas.openxmlformats.org/officeDocument/2006/relationships/hyperlink" Target="https://www.investopedia.com/terms/f/fundamentalanalysis.asp"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385"/>
        <p:cNvGrpSpPr/>
        <p:nvPr/>
      </p:nvGrpSpPr>
      <p:grpSpPr>
        <a:xfrm>
          <a:off x="0" y="0"/>
          <a:ext cx="0" cy="0"/>
          <a:chOff x="0" y="0"/>
          <a:chExt cx="0" cy="0"/>
        </a:xfrm>
      </p:grpSpPr>
      <p:sp>
        <p:nvSpPr>
          <p:cNvPr id="1386" name="Google Shape;1386;p33"/>
          <p:cNvSpPr txBox="1">
            <a:spLocks noGrp="1"/>
          </p:cNvSpPr>
          <p:nvPr>
            <p:ph type="ctrTitle"/>
          </p:nvPr>
        </p:nvSpPr>
        <p:spPr>
          <a:xfrm>
            <a:off x="1540987" y="2080499"/>
            <a:ext cx="7346527" cy="1897472"/>
          </a:xfrm>
          <a:prstGeom prst="rect">
            <a:avLst/>
          </a:prstGeom>
        </p:spPr>
        <p:txBody>
          <a:bodyPr spcFirstLastPara="1" vert="horz" wrap="square" lIns="121900" tIns="121900" rIns="121900" bIns="121900" rtlCol="0" anchor="b" anchorCtr="0">
            <a:noAutofit/>
          </a:bodyPr>
          <a:lstStyle/>
          <a:p>
            <a:br>
              <a:rPr lang="en-IN" sz="4000" b="1" dirty="0">
                <a:latin typeface="Arial" panose="020B0604020202020204" pitchFamily="34" charset="0"/>
                <a:cs typeface="Arial" panose="020B0604020202020204" pitchFamily="34" charset="0"/>
              </a:rPr>
            </a:br>
            <a:br>
              <a:rPr lang="en-IN" sz="4000" b="1" dirty="0">
                <a:latin typeface="Arial" panose="020B0604020202020204" pitchFamily="34" charset="0"/>
                <a:cs typeface="Arial" panose="020B0604020202020204" pitchFamily="34" charset="0"/>
              </a:rPr>
            </a:br>
            <a:br>
              <a:rPr lang="en-IN" sz="4000" b="1" dirty="0">
                <a:latin typeface="Arial" panose="020B0604020202020204" pitchFamily="34" charset="0"/>
                <a:cs typeface="Arial" panose="020B0604020202020204" pitchFamily="34" charset="0"/>
              </a:rPr>
            </a:br>
            <a:br>
              <a:rPr lang="en-IN" sz="4000" b="1" dirty="0">
                <a:latin typeface="Arial" panose="020B0604020202020204" pitchFamily="34" charset="0"/>
                <a:cs typeface="Arial" panose="020B0604020202020204" pitchFamily="34" charset="0"/>
              </a:rPr>
            </a:br>
            <a:br>
              <a:rPr lang="en-IN" sz="4000" b="1" dirty="0">
                <a:latin typeface="Arial" panose="020B0604020202020204" pitchFamily="34" charset="0"/>
                <a:cs typeface="Arial" panose="020B0604020202020204" pitchFamily="34" charset="0"/>
              </a:rPr>
            </a:br>
            <a:br>
              <a:rPr lang="en-IN" sz="4000" b="1" dirty="0">
                <a:latin typeface="Arial" panose="020B0604020202020204" pitchFamily="34" charset="0"/>
                <a:cs typeface="Arial" panose="020B0604020202020204" pitchFamily="34" charset="0"/>
              </a:rPr>
            </a:br>
            <a:r>
              <a:rPr lang="en-IN" sz="4000" b="1" dirty="0">
                <a:latin typeface="Arial" panose="020B0604020202020204" pitchFamily="34" charset="0"/>
                <a:cs typeface="Arial" panose="020B0604020202020204" pitchFamily="34" charset="0"/>
              </a:rPr>
              <a:t>Wisdom or Whims? Decoding sentimental analysis and build long-short portfolio</a:t>
            </a:r>
            <a:br>
              <a:rPr lang="en" sz="3733" dirty="0">
                <a:latin typeface="Arial" panose="020B0604020202020204" pitchFamily="34" charset="0"/>
                <a:cs typeface="Arial" panose="020B0604020202020204" pitchFamily="34" charset="0"/>
              </a:rPr>
            </a:br>
            <a:endParaRPr lang="en-US" sz="3733" dirty="0">
              <a:latin typeface="Arial" panose="020B0604020202020204" pitchFamily="34" charset="0"/>
              <a:cs typeface="Arial" panose="020B0604020202020204" pitchFamily="34" charset="0"/>
            </a:endParaRPr>
          </a:p>
          <a:p>
            <a:pPr lvl="0"/>
            <a:r>
              <a:rPr lang="en-IN" sz="2667" dirty="0">
                <a:latin typeface="Arial" panose="020B0604020202020204" pitchFamily="34" charset="0"/>
                <a:cs typeface="Arial" panose="020B0604020202020204" pitchFamily="34" charset="0"/>
              </a:rPr>
              <a:t>Dataset: Reddit </a:t>
            </a:r>
            <a:r>
              <a:rPr lang="en-IN" sz="2667" b="1" i="1" dirty="0" err="1">
                <a:latin typeface="Arial" panose="020B0604020202020204" pitchFamily="34" charset="0"/>
                <a:cs typeface="Arial" panose="020B0604020202020204" pitchFamily="34" charset="0"/>
              </a:rPr>
              <a:t>WallStreetBets</a:t>
            </a:r>
            <a:r>
              <a:rPr lang="en-IN" sz="2667" dirty="0">
                <a:latin typeface="Arial" panose="020B0604020202020204" pitchFamily="34" charset="0"/>
                <a:cs typeface="Arial" panose="020B0604020202020204" pitchFamily="34" charset="0"/>
              </a:rPr>
              <a:t> posts (2020–2025)</a:t>
            </a:r>
          </a:p>
        </p:txBody>
      </p:sp>
      <p:sp>
        <p:nvSpPr>
          <p:cNvPr id="1387" name="Google Shape;1387;p33"/>
          <p:cNvSpPr txBox="1">
            <a:spLocks noGrp="1"/>
          </p:cNvSpPr>
          <p:nvPr>
            <p:ph type="subTitle" idx="1"/>
          </p:nvPr>
        </p:nvSpPr>
        <p:spPr>
          <a:xfrm>
            <a:off x="1008471" y="4377617"/>
            <a:ext cx="5628800" cy="634400"/>
          </a:xfrm>
          <a:prstGeom prst="rect">
            <a:avLst/>
          </a:prstGeom>
        </p:spPr>
        <p:txBody>
          <a:bodyPr spcFirstLastPara="1" vert="horz" wrap="square" lIns="121900" tIns="121900" rIns="121900" bIns="121900" rtlCol="0" anchor="t" anchorCtr="0">
            <a:noAutofit/>
          </a:bodyPr>
          <a:lstStyle/>
          <a:p>
            <a:pPr lvl="0"/>
            <a:r>
              <a:rPr lang="en-IN" dirty="0"/>
              <a:t>Scale: ~4.17 million posts</a:t>
            </a:r>
          </a:p>
          <a:p>
            <a:pPr lvl="0"/>
            <a:r>
              <a:rPr lang="en-IN" dirty="0"/>
              <a:t>Source: Kaggle repository</a:t>
            </a:r>
          </a:p>
        </p:txBody>
      </p:sp>
      <p:cxnSp>
        <p:nvCxnSpPr>
          <p:cNvPr id="1389" name="Google Shape;1389;p33"/>
          <p:cNvCxnSpPr>
            <a:stCxn id="1390" idx="5"/>
          </p:cNvCxnSpPr>
          <p:nvPr/>
        </p:nvCxnSpPr>
        <p:spPr>
          <a:xfrm flipH="1">
            <a:off x="-776752" y="7108473"/>
            <a:ext cx="367600" cy="636800"/>
          </a:xfrm>
          <a:prstGeom prst="straightConnector1">
            <a:avLst/>
          </a:prstGeom>
          <a:noFill/>
          <a:ln w="9525" cap="flat" cmpd="sng">
            <a:solidFill>
              <a:schemeClr val="dk2"/>
            </a:solidFill>
            <a:prstDash val="solid"/>
            <a:round/>
            <a:headEnd type="none" w="med" len="med"/>
            <a:tailEnd type="none" w="med" len="med"/>
          </a:ln>
        </p:spPr>
      </p:cxnSp>
      <p:pic>
        <p:nvPicPr>
          <p:cNvPr id="6" name="Picture 5" descr="RCB-LOGO_3spot_HIGHRES - Robinson College of Business">
            <a:extLst>
              <a:ext uri="{FF2B5EF4-FFF2-40B4-BE49-F238E27FC236}">
                <a16:creationId xmlns:a16="http://schemas.microsoft.com/office/drawing/2014/main" id="{3438A9A2-482B-55BC-27E8-D9DC96F5963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8516613" y="4032532"/>
            <a:ext cx="3007360" cy="1437640"/>
          </a:xfrm>
          <a:prstGeom prst="rect">
            <a:avLst/>
          </a:prstGeom>
        </p:spPr>
      </p:pic>
      <p:sp>
        <p:nvSpPr>
          <p:cNvPr id="3" name="TextBox 2">
            <a:extLst>
              <a:ext uri="{FF2B5EF4-FFF2-40B4-BE49-F238E27FC236}">
                <a16:creationId xmlns:a16="http://schemas.microsoft.com/office/drawing/2014/main" id="{258878F2-69AC-98E3-6BF1-5E7C2EE09C58}"/>
              </a:ext>
            </a:extLst>
          </p:cNvPr>
          <p:cNvSpPr txBox="1"/>
          <p:nvPr/>
        </p:nvSpPr>
        <p:spPr>
          <a:xfrm>
            <a:off x="1401383" y="5244501"/>
            <a:ext cx="503962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2133" dirty="0">
                <a:latin typeface="Arial" panose="020B0604020202020204" pitchFamily="34" charset="0"/>
                <a:cs typeface="Arial" panose="020B0604020202020204" pitchFamily="34" charset="0"/>
              </a:rPr>
              <a:t>~ Siddhant Khatiwada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p:cNvGrpSpPr/>
        <p:nvPr/>
      </p:nvGrpSpPr>
      <p:grpSpPr>
        <a:xfrm>
          <a:off x="0" y="0"/>
          <a:ext cx="0" cy="0"/>
          <a:chOff x="0" y="0"/>
          <a:chExt cx="0" cy="0"/>
        </a:xfrm>
      </p:grpSpPr>
      <p:sp>
        <p:nvSpPr>
          <p:cNvPr id="1404" name="Google Shape;1404;p35"/>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algn="ctr"/>
            <a:r>
              <a:rPr lang="en" sz="4000" b="1" dirty="0">
                <a:latin typeface="Arial" panose="020B0604020202020204" pitchFamily="34" charset="0"/>
                <a:cs typeface="Arial" panose="020B0604020202020204" pitchFamily="34" charset="0"/>
              </a:rPr>
              <a:t>Data Sources &amp; Standardization</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005B79C1-828E-EE12-5142-9EA2170EBACD}"/>
              </a:ext>
            </a:extLst>
          </p:cNvPr>
          <p:cNvSpPr txBox="1"/>
          <p:nvPr/>
        </p:nvSpPr>
        <p:spPr>
          <a:xfrm>
            <a:off x="634380" y="1724722"/>
            <a:ext cx="4876800" cy="4093428"/>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Data Construction:</a:t>
            </a:r>
          </a:p>
          <a:p>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US" sz="2000" dirty="0">
                <a:latin typeface="Arial" panose="020B0604020202020204" pitchFamily="34" charset="0"/>
                <a:cs typeface="Arial" panose="020B0604020202020204" pitchFamily="34" charset="0"/>
              </a:rPr>
              <a:t>Three Kaggle Datasets merged:</a:t>
            </a:r>
          </a:p>
          <a:p>
            <a:pPr lvl="2"/>
            <a:r>
              <a:rPr lang="en-US" sz="2000" dirty="0">
                <a:latin typeface="Arial" panose="020B0604020202020204" pitchFamily="34" charset="0"/>
                <a:cs typeface="Arial" panose="020B0604020202020204" pitchFamily="34" charset="0"/>
              </a:rPr>
              <a:t>-    2020-2021 (53K)</a:t>
            </a:r>
          </a:p>
          <a:p>
            <a:pPr marL="1257300" lvl="2" indent="-342900">
              <a:buFontTx/>
              <a:buChar char="-"/>
            </a:pPr>
            <a:r>
              <a:rPr lang="en-US" sz="2000" dirty="0">
                <a:latin typeface="Arial" panose="020B0604020202020204" pitchFamily="34" charset="0"/>
                <a:cs typeface="Arial" panose="020B0604020202020204" pitchFamily="34" charset="0"/>
              </a:rPr>
              <a:t>2022 (1.09M)</a:t>
            </a:r>
          </a:p>
          <a:p>
            <a:pPr marL="1257300" lvl="2" indent="-342900">
              <a:buFontTx/>
              <a:buChar char="-"/>
            </a:pPr>
            <a:r>
              <a:rPr lang="en-US" sz="2000" dirty="0">
                <a:latin typeface="Arial" panose="020B0604020202020204" pitchFamily="34" charset="0"/>
                <a:cs typeface="Arial" panose="020B0604020202020204" pitchFamily="34" charset="0"/>
              </a:rPr>
              <a:t>2023-2025 (3.03M)</a:t>
            </a:r>
          </a:p>
          <a:p>
            <a:pPr lvl="2"/>
            <a:endParaRPr lang="en-US" sz="2000" dirty="0">
              <a:latin typeface="Arial" panose="020B0604020202020204" pitchFamily="34" charset="0"/>
              <a:cs typeface="Arial" panose="020B0604020202020204" pitchFamily="34" charset="0"/>
            </a:endParaRPr>
          </a:p>
          <a:p>
            <a:pPr marL="342900" lvl="2"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Fields used:</a:t>
            </a:r>
          </a:p>
          <a:p>
            <a:pPr marL="0" lvl="2"/>
            <a:r>
              <a:rPr lang="en-US" sz="2000" dirty="0">
                <a:latin typeface="Arial" panose="020B0604020202020204" pitchFamily="34" charset="0"/>
                <a:cs typeface="Arial" panose="020B0604020202020204" pitchFamily="34" charset="0"/>
              </a:rPr>
              <a:t>	- Title</a:t>
            </a:r>
          </a:p>
          <a:p>
            <a:pPr marL="0" lvl="2"/>
            <a:r>
              <a:rPr lang="en-US" sz="2000" dirty="0">
                <a:latin typeface="Arial" panose="020B0604020202020204" pitchFamily="34" charset="0"/>
                <a:cs typeface="Arial" panose="020B0604020202020204" pitchFamily="34" charset="0"/>
              </a:rPr>
              <a:t>	- Body</a:t>
            </a:r>
          </a:p>
          <a:p>
            <a:pPr marL="0" lvl="2"/>
            <a:r>
              <a:rPr lang="en-US" sz="2000" dirty="0">
                <a:latin typeface="Arial" panose="020B0604020202020204" pitchFamily="34" charset="0"/>
                <a:cs typeface="Arial" panose="020B0604020202020204" pitchFamily="34" charset="0"/>
              </a:rPr>
              <a:t>	- Timestamp</a:t>
            </a:r>
          </a:p>
          <a:p>
            <a:pPr marL="0" lvl="2"/>
            <a:r>
              <a:rPr lang="en-US" sz="2000" dirty="0">
                <a:latin typeface="Arial" panose="020B0604020202020204" pitchFamily="34" charset="0"/>
                <a:cs typeface="Arial" panose="020B0604020202020204" pitchFamily="34" charset="0"/>
              </a:rPr>
              <a:t>	- Post ID</a:t>
            </a:r>
          </a:p>
          <a:p>
            <a:endParaRPr lang="en-IN" sz="2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3CE0E734-0B5F-8980-2B9D-A3E89FD5B8F7}"/>
              </a:ext>
            </a:extLst>
          </p:cNvPr>
          <p:cNvSpPr txBox="1"/>
          <p:nvPr/>
        </p:nvSpPr>
        <p:spPr>
          <a:xfrm>
            <a:off x="5719336" y="1724722"/>
            <a:ext cx="5283200" cy="4401205"/>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Data Cleaning &amp; Standardization:</a:t>
            </a:r>
          </a:p>
          <a:p>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Removed automated moderation posts (</a:t>
            </a:r>
            <a:r>
              <a:rPr lang="en-IN" sz="2000" dirty="0" err="1">
                <a:latin typeface="Arial" panose="020B0604020202020204" pitchFamily="34" charset="0"/>
                <a:cs typeface="Arial" panose="020B0604020202020204" pitchFamily="34" charset="0"/>
              </a:rPr>
              <a:t>AutoModerator</a:t>
            </a:r>
            <a:r>
              <a:rPr lang="en-IN" sz="2000" dirty="0">
                <a:latin typeface="Arial" panose="020B0604020202020204" pitchFamily="34" charset="0"/>
                <a:cs typeface="Arial" panose="020B0604020202020204" pitchFamily="34" charset="0"/>
              </a:rPr>
              <a:t>) to reduce noise</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Aligned column structures across datasets</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Standardized text by:</a:t>
            </a:r>
          </a:p>
          <a:p>
            <a:r>
              <a:rPr lang="en-IN" sz="2000" dirty="0">
                <a:latin typeface="Arial" panose="020B0604020202020204" pitchFamily="34" charset="0"/>
                <a:cs typeface="Arial" panose="020B0604020202020204" pitchFamily="34" charset="0"/>
              </a:rPr>
              <a:t>	- Combining title + body</a:t>
            </a:r>
          </a:p>
          <a:p>
            <a:pPr lvl="2"/>
            <a:r>
              <a:rPr lang="en-IN" sz="2000" dirty="0">
                <a:latin typeface="Arial" panose="020B0604020202020204" pitchFamily="34" charset="0"/>
                <a:cs typeface="Arial" panose="020B0604020202020204" pitchFamily="34" charset="0"/>
              </a:rPr>
              <a:t>- Removing line breaks and 	   parsing artifacts</a:t>
            </a:r>
          </a:p>
          <a:p>
            <a:pPr lvl="2"/>
            <a:r>
              <a:rPr lang="en-IN" sz="2000" dirty="0">
                <a:latin typeface="Arial" panose="020B0604020202020204" pitchFamily="34" charset="0"/>
                <a:cs typeface="Arial" panose="020B0604020202020204" pitchFamily="34" charset="0"/>
              </a:rPr>
              <a:t>	</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5F3B2DC1-E00C-9065-F4C7-C67C3C79E527}"/>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F89D3C61-271C-3CB2-068F-76D29EC6935E}"/>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en-IN" sz="4000" b="1" dirty="0">
                <a:latin typeface="Arial" panose="020B0604020202020204" pitchFamily="34" charset="0"/>
                <a:cs typeface="Arial" panose="020B0604020202020204" pitchFamily="34" charset="0"/>
              </a:rPr>
              <a:t>Rule-Based </a:t>
            </a:r>
            <a:r>
              <a:rPr lang="en-IN" sz="4000" b="1" dirty="0" err="1">
                <a:latin typeface="Arial" panose="020B0604020202020204" pitchFamily="34" charset="0"/>
                <a:cs typeface="Arial" panose="020B0604020202020204" pitchFamily="34" charset="0"/>
              </a:rPr>
              <a:t>Labeling</a:t>
            </a:r>
            <a:r>
              <a:rPr lang="en-IN" sz="4000" b="1" dirty="0">
                <a:latin typeface="Arial" panose="020B0604020202020204" pitchFamily="34" charset="0"/>
                <a:cs typeface="Arial" panose="020B0604020202020204" pitchFamily="34" charset="0"/>
              </a:rPr>
              <a:t> (TA &amp; FA)</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B06CA9C3-6411-3452-21FE-E96A674CF544}"/>
              </a:ext>
            </a:extLst>
          </p:cNvPr>
          <p:cNvSpPr txBox="1"/>
          <p:nvPr/>
        </p:nvSpPr>
        <p:spPr>
          <a:xfrm>
            <a:off x="634380" y="1724722"/>
            <a:ext cx="4876800" cy="3477875"/>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Initial Label Generation</a:t>
            </a:r>
            <a:r>
              <a:rPr lang="en-US" sz="2000" b="1"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No labelled dataset available at this scale</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Built rule-based classifiers using curated indicator lists</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Two parallel pipelines:</a:t>
            </a:r>
          </a:p>
          <a:p>
            <a:r>
              <a:rPr lang="en-US" sz="2000" dirty="0">
                <a:latin typeface="Arial" panose="020B0604020202020204" pitchFamily="34" charset="0"/>
                <a:cs typeface="Arial" panose="020B0604020202020204" pitchFamily="34" charset="0"/>
              </a:rPr>
              <a:t>       - </a:t>
            </a:r>
            <a:r>
              <a:rPr lang="en-IN" sz="2000" dirty="0">
                <a:latin typeface="Arial" panose="020B0604020202020204" pitchFamily="34" charset="0"/>
                <a:cs typeface="Arial" panose="020B0604020202020204" pitchFamily="34" charset="0"/>
              </a:rPr>
              <a:t>Technical Analysis indicators</a:t>
            </a:r>
            <a:r>
              <a:rPr lang="en-IN" sz="2000" baseline="30000" dirty="0">
                <a:latin typeface="Arial" panose="020B0604020202020204" pitchFamily="34" charset="0"/>
                <a:cs typeface="Arial" panose="020B0604020202020204" pitchFamily="34" charset="0"/>
              </a:rPr>
              <a:t>1</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       - Fundamental Analysis indicators</a:t>
            </a:r>
            <a:r>
              <a:rPr lang="en-IN" sz="2000" baseline="30000" dirty="0">
                <a:latin typeface="Arial" panose="020B0604020202020204" pitchFamily="34" charset="0"/>
                <a:cs typeface="Arial" panose="020B0604020202020204" pitchFamily="34" charset="0"/>
              </a:rPr>
              <a:t>2</a:t>
            </a:r>
            <a:endParaRPr lang="en-IN" sz="2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221AF1F7-7A0E-74C3-9D71-C3ADAD437A4F}"/>
              </a:ext>
            </a:extLst>
          </p:cNvPr>
          <p:cNvSpPr txBox="1"/>
          <p:nvPr/>
        </p:nvSpPr>
        <p:spPr>
          <a:xfrm>
            <a:off x="5719336" y="1724721"/>
            <a:ext cx="5283200" cy="2554545"/>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Label Definition:</a:t>
            </a:r>
          </a:p>
          <a:p>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0 = Not relevant</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1 = General Discussion</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2 = Explicit indicator usage	</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BD76DB3-8902-A4D7-DB27-47A85ACEFF89}"/>
              </a:ext>
            </a:extLst>
          </p:cNvPr>
          <p:cNvSpPr txBox="1"/>
          <p:nvPr/>
        </p:nvSpPr>
        <p:spPr>
          <a:xfrm>
            <a:off x="515434" y="5487504"/>
            <a:ext cx="11319727" cy="1292662"/>
          </a:xfrm>
          <a:prstGeom prst="rect">
            <a:avLst/>
          </a:prstGeom>
          <a:noFill/>
        </p:spPr>
        <p:txBody>
          <a:bodyPr wrap="square" rtlCol="0">
            <a:spAutoFit/>
          </a:bodyPr>
          <a:lstStyle/>
          <a:p>
            <a:pPr marL="457189" indent="-457189">
              <a:buAutoNum type="arabicPeriod"/>
            </a:pPr>
            <a:r>
              <a:rPr lang="en-US" sz="1300" i="1" dirty="0">
                <a:latin typeface="Arial" panose="020B0604020202020204" pitchFamily="34" charset="0"/>
                <a:cs typeface="Arial" panose="020B0604020202020204" pitchFamily="34" charset="0"/>
              </a:rPr>
              <a:t>Technical indicator definitions and associated keywords were compiled from Encyclopedia of Technical Market Indicators by Colby (2003) and used to construct the rule-based detection framework.</a:t>
            </a:r>
          </a:p>
          <a:p>
            <a:pPr marL="457189" indent="-457189">
              <a:buAutoNum type="arabicPeriod"/>
            </a:pPr>
            <a:endParaRPr lang="en-US" sz="1300" i="1" dirty="0">
              <a:latin typeface="Arial" panose="020B0604020202020204" pitchFamily="34" charset="0"/>
              <a:cs typeface="Arial" panose="020B0604020202020204" pitchFamily="34" charset="0"/>
            </a:endParaRPr>
          </a:p>
          <a:p>
            <a:pPr marL="457189" indent="-457189">
              <a:buAutoNum type="arabicPeriod"/>
            </a:pPr>
            <a:r>
              <a:rPr lang="en-US" sz="1300" i="1" dirty="0">
                <a:latin typeface="Arial" panose="020B0604020202020204" pitchFamily="34" charset="0"/>
                <a:cs typeface="Arial" panose="020B0604020202020204" pitchFamily="34" charset="0"/>
              </a:rPr>
              <a:t>In contrast to technical analysis, fundamental analysis does not have a single consolidated reference source. As a result, the list of fundamental indicators was constructed by synthesizing terminology from multiple widely used practitioner sources, including CFI, Bloomberg, and Wall Street financial publications.</a:t>
            </a:r>
            <a:endParaRPr lang="en-IN" sz="13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670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F6A230B5-48FF-3BF3-9C1A-4AF8FD392CFB}"/>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56B92E42-201D-8EF7-DF3B-67323B7CA91C}"/>
              </a:ext>
            </a:extLst>
          </p:cNvPr>
          <p:cNvSpPr txBox="1">
            <a:spLocks noGrp="1"/>
          </p:cNvSpPr>
          <p:nvPr>
            <p:ph type="title"/>
          </p:nvPr>
        </p:nvSpPr>
        <p:spPr>
          <a:xfrm>
            <a:off x="842536" y="318064"/>
            <a:ext cx="10272000" cy="763600"/>
          </a:xfrm>
          <a:prstGeom prst="rect">
            <a:avLst/>
          </a:prstGeom>
        </p:spPr>
        <p:txBody>
          <a:bodyPr spcFirstLastPara="1" vert="horz" wrap="square" lIns="121900" tIns="121900" rIns="121900" bIns="121900" rtlCol="0" anchor="t" anchorCtr="0">
            <a:noAutofit/>
          </a:bodyPr>
          <a:lstStyle/>
          <a:p>
            <a:pPr algn="ctr"/>
            <a:r>
              <a:rPr lang="en-US" sz="3500" b="1" dirty="0">
                <a:latin typeface="Arial" panose="020B0604020202020204" pitchFamily="34" charset="0"/>
                <a:cs typeface="Arial" panose="020B0604020202020204" pitchFamily="34" charset="0"/>
              </a:rPr>
              <a:t>Rule-Based Regex Classifier → Two-Stage Heuristic System</a:t>
            </a:r>
            <a:br>
              <a:rPr lang="en-IN" sz="4000" b="1" dirty="0">
                <a:latin typeface="Arial" panose="020B0604020202020204" pitchFamily="34" charset="0"/>
                <a:cs typeface="Arial" panose="020B0604020202020204" pitchFamily="34" charset="0"/>
              </a:rPr>
            </a:br>
            <a:r>
              <a:rPr lang="en-IN" sz="4000" b="1" dirty="0">
                <a:latin typeface="Arial" panose="020B0604020202020204" pitchFamily="34" charset="0"/>
                <a:cs typeface="Arial" panose="020B0604020202020204" pitchFamily="34" charset="0"/>
              </a:rPr>
              <a:t> </a:t>
            </a:r>
          </a:p>
        </p:txBody>
      </p:sp>
      <p:sp>
        <p:nvSpPr>
          <p:cNvPr id="26" name="TextBox 25">
            <a:extLst>
              <a:ext uri="{FF2B5EF4-FFF2-40B4-BE49-F238E27FC236}">
                <a16:creationId xmlns:a16="http://schemas.microsoft.com/office/drawing/2014/main" id="{20492947-302B-6714-11D4-AC2702EA5171}"/>
              </a:ext>
            </a:extLst>
          </p:cNvPr>
          <p:cNvSpPr txBox="1"/>
          <p:nvPr/>
        </p:nvSpPr>
        <p:spPr>
          <a:xfrm>
            <a:off x="1009684" y="1675560"/>
            <a:ext cx="4876800" cy="3477875"/>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Why Rule-Based First</a:t>
            </a:r>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Raw WSB data has no TA/FA labels</a:t>
            </a:r>
          </a:p>
          <a:p>
            <a:pPr marL="342900" indent="-34290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Direct GPT </a:t>
            </a:r>
            <a:r>
              <a:rPr lang="en-IN" sz="2000" dirty="0" err="1">
                <a:latin typeface="Arial" panose="020B0604020202020204" pitchFamily="34" charset="0"/>
                <a:cs typeface="Arial" panose="020B0604020202020204" pitchFamily="34" charset="0"/>
              </a:rPr>
              <a:t>labeling</a:t>
            </a:r>
            <a:r>
              <a:rPr lang="en-IN" sz="2000" dirty="0">
                <a:latin typeface="Arial" panose="020B0604020202020204" pitchFamily="34" charset="0"/>
                <a:cs typeface="Arial" panose="020B0604020202020204" pitchFamily="34" charset="0"/>
              </a:rPr>
              <a:t> is noisy and distribution-skewed</a:t>
            </a:r>
          </a:p>
          <a:p>
            <a:pPr marL="342900" indent="-34290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Regex provides deterministic, interpretable, and scalable labels</a:t>
            </a:r>
          </a:p>
          <a:p>
            <a:pPr marL="342900" indent="-34290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Clean labels required before BERT training</a:t>
            </a:r>
          </a:p>
        </p:txBody>
      </p:sp>
      <p:sp>
        <p:nvSpPr>
          <p:cNvPr id="27" name="TextBox 26">
            <a:extLst>
              <a:ext uri="{FF2B5EF4-FFF2-40B4-BE49-F238E27FC236}">
                <a16:creationId xmlns:a16="http://schemas.microsoft.com/office/drawing/2014/main" id="{5C2CB554-987A-6C1F-84EF-E4317AF26A4F}"/>
              </a:ext>
            </a:extLst>
          </p:cNvPr>
          <p:cNvSpPr txBox="1"/>
          <p:nvPr/>
        </p:nvSpPr>
        <p:spPr>
          <a:xfrm>
            <a:off x="6066264" y="1675560"/>
            <a:ext cx="5283200" cy="5078313"/>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Two-Stage Heuristic System</a:t>
            </a:r>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b="1" dirty="0">
                <a:latin typeface="Arial" panose="020B0604020202020204" pitchFamily="34" charset="0"/>
                <a:cs typeface="Arial" panose="020B0604020202020204" pitchFamily="34" charset="0"/>
              </a:rPr>
              <a:t>Stage 1:</a:t>
            </a:r>
            <a:r>
              <a:rPr lang="en-IN" sz="2000" dirty="0">
                <a:latin typeface="Arial" panose="020B0604020202020204" pitchFamily="34" charset="0"/>
                <a:cs typeface="Arial" panose="020B0604020202020204" pitchFamily="34" charset="0"/>
              </a:rPr>
              <a:t> Apply high-precision regex rules to capture explicit technical indicators</a:t>
            </a:r>
          </a:p>
          <a:p>
            <a:pPr marL="342900" indent="-34290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b="1" dirty="0">
                <a:latin typeface="Arial" panose="020B0604020202020204" pitchFamily="34" charset="0"/>
                <a:cs typeface="Arial" panose="020B0604020202020204" pitchFamily="34" charset="0"/>
              </a:rPr>
              <a:t>Stage 2:</a:t>
            </a:r>
            <a:r>
              <a:rPr lang="en-IN" sz="2000" dirty="0">
                <a:latin typeface="Arial" panose="020B0604020202020204" pitchFamily="34" charset="0"/>
                <a:cs typeface="Arial" panose="020B0604020202020204" pitchFamily="34" charset="0"/>
              </a:rPr>
              <a:t> Apply broader technical-language rules to capture informal or non-explicit TA discussion</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		</a:t>
            </a:r>
            <a:r>
              <a:rPr lang="en-IN" sz="2200" b="1" dirty="0">
                <a:latin typeface="Arial" panose="020B0604020202020204" pitchFamily="34" charset="0"/>
                <a:cs typeface="Arial" panose="020B0604020202020204" pitchFamily="34" charset="0"/>
              </a:rPr>
              <a:t>↓</a:t>
            </a:r>
            <a:br>
              <a:rPr lang="en-IN" sz="2000" dirty="0">
                <a:latin typeface="Arial" panose="020B0604020202020204" pitchFamily="34" charset="0"/>
                <a:cs typeface="Arial" panose="020B0604020202020204" pitchFamily="34" charset="0"/>
              </a:rPr>
            </a:br>
            <a:r>
              <a:rPr lang="en-IN" sz="2000" b="1" dirty="0">
                <a:latin typeface="Arial" panose="020B0604020202020204" pitchFamily="34" charset="0"/>
                <a:cs typeface="Arial" panose="020B0604020202020204" pitchFamily="34" charset="0"/>
              </a:rPr>
              <a:t>Deterministic TA/FA Labels Generated</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		</a:t>
            </a:r>
            <a:r>
              <a:rPr lang="en-IN" sz="2200" b="1" dirty="0">
                <a:latin typeface="Arial" panose="020B0604020202020204" pitchFamily="34" charset="0"/>
                <a:cs typeface="Arial" panose="020B0604020202020204" pitchFamily="34" charset="0"/>
              </a:rPr>
              <a:t>↓</a:t>
            </a:r>
            <a:br>
              <a:rPr lang="en-IN" sz="2000" dirty="0">
                <a:latin typeface="Arial" panose="020B0604020202020204" pitchFamily="34" charset="0"/>
                <a:cs typeface="Arial" panose="020B0604020202020204" pitchFamily="34" charset="0"/>
              </a:rPr>
            </a:br>
            <a:r>
              <a:rPr lang="en-IN" sz="2000" b="1" dirty="0">
                <a:latin typeface="Arial" panose="020B0604020202020204" pitchFamily="34" charset="0"/>
                <a:cs typeface="Arial" panose="020B0604020202020204" pitchFamily="34" charset="0"/>
              </a:rPr>
              <a:t>Stratified Sampling for Model Training</a:t>
            </a:r>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Balanced sampling across heuristic outputs</a:t>
            </a:r>
          </a:p>
          <a:p>
            <a:pPr marL="342900" indent="-34290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18,000 total posts selected for BERT fine-tuning</a:t>
            </a:r>
          </a:p>
        </p:txBody>
      </p:sp>
    </p:spTree>
    <p:extLst>
      <p:ext uri="{BB962C8B-B14F-4D97-AF65-F5344CB8AC3E}">
        <p14:creationId xmlns:p14="http://schemas.microsoft.com/office/powerpoint/2010/main" val="2021934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8D2F59CB-22A1-714A-297E-DADD52FA7325}"/>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F46A9ADA-9F57-0266-50B9-F09FAE27C62A}"/>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en-IN" sz="4000" b="1" dirty="0">
                <a:latin typeface="Arial" panose="020B0604020202020204" pitchFamily="34" charset="0"/>
                <a:cs typeface="Arial" panose="020B0604020202020204" pitchFamily="34" charset="0"/>
              </a:rPr>
              <a:t>Technical Indicators Used</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92A6E071-C367-64F0-364E-5FAD9ABF1589}"/>
              </a:ext>
            </a:extLst>
          </p:cNvPr>
          <p:cNvSpPr txBox="1"/>
          <p:nvPr/>
        </p:nvSpPr>
        <p:spPr>
          <a:xfrm>
            <a:off x="721273" y="1528942"/>
            <a:ext cx="5244793" cy="3477875"/>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Momentum &amp; Oscillators</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Relative Strength Index</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Moving Average Convergence Divergence</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Commodity Channel Index</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Chande Momentum Oscillator</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Rate of Change</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Know Sure Thing</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Triple Exponential Average</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Ultimate Oscillator</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Psychological Line Indicator</a:t>
            </a:r>
          </a:p>
        </p:txBody>
      </p:sp>
      <p:sp>
        <p:nvSpPr>
          <p:cNvPr id="27" name="TextBox 26">
            <a:extLst>
              <a:ext uri="{FF2B5EF4-FFF2-40B4-BE49-F238E27FC236}">
                <a16:creationId xmlns:a16="http://schemas.microsoft.com/office/drawing/2014/main" id="{4F90FF50-F59B-EA21-FBC0-E19BB27C818A}"/>
              </a:ext>
            </a:extLst>
          </p:cNvPr>
          <p:cNvSpPr txBox="1"/>
          <p:nvPr/>
        </p:nvSpPr>
        <p:spPr>
          <a:xfrm>
            <a:off x="5987206" y="1597121"/>
            <a:ext cx="5244793" cy="2862322"/>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Trend &amp; Moving Averages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Simple Moving Average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Exponential Moving Average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Double Exponential Moving Average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Trendlines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Support and Resistance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Pivot Points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Parabolic Stop and Reverse</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5E2C84A-3ABE-9620-011D-E105D58A4E4A}"/>
              </a:ext>
            </a:extLst>
          </p:cNvPr>
          <p:cNvSpPr txBox="1"/>
          <p:nvPr/>
        </p:nvSpPr>
        <p:spPr>
          <a:xfrm>
            <a:off x="544931" y="6087272"/>
            <a:ext cx="11319727" cy="692497"/>
          </a:xfrm>
          <a:prstGeom prst="rect">
            <a:avLst/>
          </a:prstGeom>
          <a:noFill/>
        </p:spPr>
        <p:txBody>
          <a:bodyPr wrap="square" rtlCol="0">
            <a:spAutoFit/>
          </a:bodyPr>
          <a:lstStyle/>
          <a:p>
            <a:pPr marL="457189" indent="-457189">
              <a:buAutoNum type="arabicPeriod"/>
            </a:pPr>
            <a:r>
              <a:rPr lang="en-US" sz="1300" i="1" dirty="0">
                <a:latin typeface="Arial" panose="020B0604020202020204" pitchFamily="34" charset="0"/>
                <a:cs typeface="Arial" panose="020B0604020202020204" pitchFamily="34" charset="0"/>
              </a:rPr>
              <a:t>Technical indicator definitions and associated keywords were compiled from Encyclopedia of Technical Market Indicators by Colby (2003) and used to construct the rule-based detection framework.</a:t>
            </a:r>
          </a:p>
          <a:p>
            <a:endParaRPr lang="en-US" sz="13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2982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EEC86A2A-A037-7CED-F0CD-F201BDC0E41D}"/>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7131D186-DB14-B421-1450-FE73C49B3F6D}"/>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en-IN" sz="4000" b="1" dirty="0">
                <a:latin typeface="Arial" panose="020B0604020202020204" pitchFamily="34" charset="0"/>
                <a:cs typeface="Arial" panose="020B0604020202020204" pitchFamily="34" charset="0"/>
              </a:rPr>
              <a:t>Technical Indicators Used</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4F6136D1-930F-18AD-4B12-33AD4E39B848}"/>
              </a:ext>
            </a:extLst>
          </p:cNvPr>
          <p:cNvSpPr txBox="1"/>
          <p:nvPr/>
        </p:nvSpPr>
        <p:spPr>
          <a:xfrm>
            <a:off x="721273" y="1528942"/>
            <a:ext cx="5265934" cy="1323439"/>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Volatility</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Average True Range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Bollinger Bands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Keltner Channels</a:t>
            </a:r>
          </a:p>
        </p:txBody>
      </p:sp>
      <p:sp>
        <p:nvSpPr>
          <p:cNvPr id="27" name="TextBox 26">
            <a:extLst>
              <a:ext uri="{FF2B5EF4-FFF2-40B4-BE49-F238E27FC236}">
                <a16:creationId xmlns:a16="http://schemas.microsoft.com/office/drawing/2014/main" id="{8FF7A890-5C5D-D3FE-A0C3-CB983EC87AA7}"/>
              </a:ext>
            </a:extLst>
          </p:cNvPr>
          <p:cNvSpPr txBox="1"/>
          <p:nvPr/>
        </p:nvSpPr>
        <p:spPr>
          <a:xfrm>
            <a:off x="5987207" y="1597121"/>
            <a:ext cx="5483520" cy="2554545"/>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Volume-Based Indicators</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On-Balance Volume</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Klinger Volume Oscillator</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Williams Variable Accumulation/Distribution</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Positive Volume Index</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Negative Volume Index</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Accumulation/Distribution</a:t>
            </a: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Time Segmented Volume</a:t>
            </a:r>
          </a:p>
        </p:txBody>
      </p:sp>
      <p:sp>
        <p:nvSpPr>
          <p:cNvPr id="2" name="TextBox 1">
            <a:extLst>
              <a:ext uri="{FF2B5EF4-FFF2-40B4-BE49-F238E27FC236}">
                <a16:creationId xmlns:a16="http://schemas.microsoft.com/office/drawing/2014/main" id="{64508E8A-192C-89F0-B054-2F9D31F869F5}"/>
              </a:ext>
            </a:extLst>
          </p:cNvPr>
          <p:cNvSpPr txBox="1"/>
          <p:nvPr/>
        </p:nvSpPr>
        <p:spPr>
          <a:xfrm>
            <a:off x="544931" y="6087272"/>
            <a:ext cx="11319727" cy="692497"/>
          </a:xfrm>
          <a:prstGeom prst="rect">
            <a:avLst/>
          </a:prstGeom>
          <a:noFill/>
        </p:spPr>
        <p:txBody>
          <a:bodyPr wrap="square" rtlCol="0">
            <a:spAutoFit/>
          </a:bodyPr>
          <a:lstStyle/>
          <a:p>
            <a:pPr marL="457189" indent="-457189">
              <a:buAutoNum type="arabicPeriod"/>
            </a:pPr>
            <a:r>
              <a:rPr lang="en-US" sz="1300" i="1" dirty="0">
                <a:latin typeface="Arial" panose="020B0604020202020204" pitchFamily="34" charset="0"/>
                <a:cs typeface="Arial" panose="020B0604020202020204" pitchFamily="34" charset="0"/>
              </a:rPr>
              <a:t>Technical indicator definitions and associated keywords were compiled from Encyclopedia of Technical Market Indicators by Colby (2003) and used to construct the rule-based detection framework.</a:t>
            </a:r>
          </a:p>
          <a:p>
            <a:endParaRPr lang="en-US" sz="1300" i="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EF10D96-0AE6-1F04-E91C-081A4AFE3BC7}"/>
              </a:ext>
            </a:extLst>
          </p:cNvPr>
          <p:cNvSpPr txBox="1"/>
          <p:nvPr/>
        </p:nvSpPr>
        <p:spPr>
          <a:xfrm>
            <a:off x="662028" y="4621172"/>
            <a:ext cx="10650358" cy="707886"/>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General Technical Trading Language (Regex-Based Detection)</a:t>
            </a:r>
          </a:p>
          <a:p>
            <a:r>
              <a:rPr lang="en-US" sz="2000" dirty="0">
                <a:latin typeface="Arial" panose="020B0604020202020204" pitchFamily="34" charset="0"/>
                <a:cs typeface="Arial" panose="020B0604020202020204" pitchFamily="34" charset="0"/>
              </a:rPr>
              <a:t>Chart, trend, breakout, bullish/bearish, pattern, momentum, signal, indicator, trend reversal</a:t>
            </a:r>
          </a:p>
        </p:txBody>
      </p:sp>
    </p:spTree>
    <p:extLst>
      <p:ext uri="{BB962C8B-B14F-4D97-AF65-F5344CB8AC3E}">
        <p14:creationId xmlns:p14="http://schemas.microsoft.com/office/powerpoint/2010/main" val="611982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EC559CB7-AFAA-FE9B-2133-B808CA545B37}"/>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6DD11D8B-4E8E-EA22-703A-4FF67664C878}"/>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en-IN" sz="4000" b="1" dirty="0">
                <a:latin typeface="Arial" panose="020B0604020202020204" pitchFamily="34" charset="0"/>
                <a:cs typeface="Arial" panose="020B0604020202020204" pitchFamily="34" charset="0"/>
              </a:rPr>
              <a:t>Fundamental Indicators Used</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66A76177-00F1-683C-7635-F35889C69969}"/>
              </a:ext>
            </a:extLst>
          </p:cNvPr>
          <p:cNvSpPr txBox="1"/>
          <p:nvPr/>
        </p:nvSpPr>
        <p:spPr>
          <a:xfrm>
            <a:off x="721273" y="1528942"/>
            <a:ext cx="5265934" cy="5632311"/>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Earnings &amp; Income Statement</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Earnings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Earnings per Share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Revenue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Sales (Top Line)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Net Income (Net Profit / Bottom Line)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Operating Income (Operating Profit / EBIT)</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Earnings Before Interest, Taxes, Depreciation, and Amortization</a:t>
            </a:r>
          </a:p>
          <a:p>
            <a:pPr marL="342900" indent="-342900">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Profitability Measures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Gross Margin</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Operating Margin</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Profit Margin</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Return on Equity</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Return on Assets</a:t>
            </a:r>
          </a:p>
          <a:p>
            <a:endParaRPr lang="en-US" sz="2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0473CE09-F298-CF1F-19B0-81FD7D2D2F0F}"/>
              </a:ext>
            </a:extLst>
          </p:cNvPr>
          <p:cNvSpPr txBox="1"/>
          <p:nvPr/>
        </p:nvSpPr>
        <p:spPr>
          <a:xfrm>
            <a:off x="5987207" y="1597121"/>
            <a:ext cx="5483520" cy="4401205"/>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Valuation Metrics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Price-to-Earnings Ratio</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Price-to-Book Ratio</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Price-to-Sales Ratio</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Enterprise Value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Enterprise Value to EBITDA</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Balance Sheet Indicators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Debt and Leverage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Cash and Liquidity</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Assets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Shareholder Equity</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0293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12DDF218-41C8-AFED-6CA1-9EA2E9BD34F8}"/>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514C1E17-24CD-5E69-EFB4-C3ED3489BB39}"/>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en-IN" sz="4000" b="1" dirty="0">
                <a:latin typeface="Arial" panose="020B0604020202020204" pitchFamily="34" charset="0"/>
                <a:cs typeface="Arial" panose="020B0604020202020204" pitchFamily="34" charset="0"/>
              </a:rPr>
              <a:t>Fundamental Indicators Used</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6B6AC05B-B39A-3E0D-B262-DA174A2EEE1C}"/>
              </a:ext>
            </a:extLst>
          </p:cNvPr>
          <p:cNvSpPr txBox="1"/>
          <p:nvPr/>
        </p:nvSpPr>
        <p:spPr>
          <a:xfrm>
            <a:off x="721273" y="1528942"/>
            <a:ext cx="5265934" cy="1938992"/>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Growth &amp; Forward-Looking Information</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Growth and Expansion</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Year-over-Year Growth</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Quarter-over-Quarter Growth</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Management Guidance</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Outlook and Forecasts</a:t>
            </a:r>
          </a:p>
        </p:txBody>
      </p:sp>
      <p:sp>
        <p:nvSpPr>
          <p:cNvPr id="27" name="TextBox 26">
            <a:extLst>
              <a:ext uri="{FF2B5EF4-FFF2-40B4-BE49-F238E27FC236}">
                <a16:creationId xmlns:a16="http://schemas.microsoft.com/office/drawing/2014/main" id="{3875655A-4F3B-4333-BF7B-B60801D23BD5}"/>
              </a:ext>
            </a:extLst>
          </p:cNvPr>
          <p:cNvSpPr txBox="1"/>
          <p:nvPr/>
        </p:nvSpPr>
        <p:spPr>
          <a:xfrm>
            <a:off x="5987207" y="1597121"/>
            <a:ext cx="5483520" cy="1015663"/>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Corporate Actions</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Dividends and Dividend Yield</a:t>
            </a:r>
          </a:p>
          <a:p>
            <a:pPr marL="342900" indent="-342900">
              <a:buFont typeface="Wingdings" panose="05000000000000000000" pitchFamily="2" charset="2"/>
              <a:buChar char="Ø"/>
            </a:pPr>
            <a:r>
              <a:rPr lang="en-US" sz="2000" dirty="0">
                <a:latin typeface="Arial" panose="020B0604020202020204" pitchFamily="34" charset="0"/>
                <a:cs typeface="Arial" panose="020B0604020202020204" pitchFamily="34" charset="0"/>
              </a:rPr>
              <a:t>Share Buybacks and Share Repurchases</a:t>
            </a:r>
          </a:p>
        </p:txBody>
      </p:sp>
      <p:sp>
        <p:nvSpPr>
          <p:cNvPr id="6" name="TextBox 5">
            <a:extLst>
              <a:ext uri="{FF2B5EF4-FFF2-40B4-BE49-F238E27FC236}">
                <a16:creationId xmlns:a16="http://schemas.microsoft.com/office/drawing/2014/main" id="{D6174AB7-86AC-1CDA-606D-08F8B8A89EB1}"/>
              </a:ext>
            </a:extLst>
          </p:cNvPr>
          <p:cNvSpPr txBox="1"/>
          <p:nvPr/>
        </p:nvSpPr>
        <p:spPr>
          <a:xfrm>
            <a:off x="820369" y="3708088"/>
            <a:ext cx="10650358" cy="707886"/>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General Fundamental Language (Regex-Based Detection)</a:t>
            </a:r>
          </a:p>
          <a:p>
            <a:r>
              <a:rPr lang="en-US" sz="2000" dirty="0">
                <a:latin typeface="Arial" panose="020B0604020202020204" pitchFamily="34" charset="0"/>
                <a:cs typeface="Arial" panose="020B0604020202020204" pitchFamily="34" charset="0"/>
              </a:rPr>
              <a:t>Earnings, revenue, valuation, fundamentals, financials, balance sheet, cash flow, profit</a:t>
            </a:r>
          </a:p>
        </p:txBody>
      </p:sp>
      <p:sp>
        <p:nvSpPr>
          <p:cNvPr id="3" name="TextBox 2">
            <a:extLst>
              <a:ext uri="{FF2B5EF4-FFF2-40B4-BE49-F238E27FC236}">
                <a16:creationId xmlns:a16="http://schemas.microsoft.com/office/drawing/2014/main" id="{27D77FCD-3C84-3600-2A58-2DA7ADDDC8F4}"/>
              </a:ext>
            </a:extLst>
          </p:cNvPr>
          <p:cNvSpPr txBox="1"/>
          <p:nvPr/>
        </p:nvSpPr>
        <p:spPr>
          <a:xfrm>
            <a:off x="820369" y="5910690"/>
            <a:ext cx="10650358" cy="923330"/>
          </a:xfrm>
          <a:prstGeom prst="rect">
            <a:avLst/>
          </a:prstGeom>
          <a:noFill/>
        </p:spPr>
        <p:txBody>
          <a:bodyPr wrap="square" rtlCol="0">
            <a:spAutoFit/>
          </a:bodyPr>
          <a:lstStyle/>
          <a:p>
            <a:r>
              <a:rPr lang="en-US" i="1" dirty="0">
                <a:solidFill>
                  <a:schemeClr val="bg1">
                    <a:lumMod val="50000"/>
                  </a:schemeClr>
                </a:solidFill>
                <a:latin typeface="Arial" panose="020B0604020202020204" pitchFamily="34" charset="0"/>
                <a:cs typeface="Arial" panose="020B0604020202020204" pitchFamily="34" charset="0"/>
              </a:rPr>
              <a:t>Fundamental indicator definitions and terminology were compiled from Corporate Finance Institute and Investopedia reference materials and used to construct the rule-based fundamental analysis detection framework.</a:t>
            </a:r>
          </a:p>
        </p:txBody>
      </p:sp>
      <p:sp>
        <p:nvSpPr>
          <p:cNvPr id="4" name="TextBox 3">
            <a:extLst>
              <a:ext uri="{FF2B5EF4-FFF2-40B4-BE49-F238E27FC236}">
                <a16:creationId xmlns:a16="http://schemas.microsoft.com/office/drawing/2014/main" id="{D2CC29A2-467E-3CCA-E1B5-660F27A7DE92}"/>
              </a:ext>
            </a:extLst>
          </p:cNvPr>
          <p:cNvSpPr txBox="1"/>
          <p:nvPr/>
        </p:nvSpPr>
        <p:spPr>
          <a:xfrm>
            <a:off x="7364361" y="5515897"/>
            <a:ext cx="4007270" cy="369332"/>
          </a:xfrm>
          <a:prstGeom prst="rect">
            <a:avLst/>
          </a:prstGeom>
          <a:noFill/>
        </p:spPr>
        <p:txBody>
          <a:bodyPr wrap="square" rtlCol="0">
            <a:spAutoFit/>
          </a:bodyPr>
          <a:lstStyle/>
          <a:p>
            <a:r>
              <a:rPr lang="en-US" i="1" dirty="0">
                <a:solidFill>
                  <a:schemeClr val="bg1">
                    <a:lumMod val="50000"/>
                  </a:schemeClr>
                </a:solidFill>
              </a:rPr>
              <a:t>Sources listed on final References slide</a:t>
            </a:r>
            <a:endParaRPr lang="en-IN" i="1" dirty="0">
              <a:solidFill>
                <a:schemeClr val="bg1">
                  <a:lumMod val="50000"/>
                </a:schemeClr>
              </a:solidFill>
            </a:endParaRPr>
          </a:p>
        </p:txBody>
      </p:sp>
    </p:spTree>
    <p:extLst>
      <p:ext uri="{BB962C8B-B14F-4D97-AF65-F5344CB8AC3E}">
        <p14:creationId xmlns:p14="http://schemas.microsoft.com/office/powerpoint/2010/main" val="1386606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D3F0EF1B-4412-16BE-9561-CC0518444D17}"/>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CD187662-55B0-8DEC-A9F4-A6DD6E5D8A64}"/>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en-IN" sz="4000" b="1" dirty="0">
                <a:latin typeface="Arial" panose="020B0604020202020204" pitchFamily="34" charset="0"/>
                <a:cs typeface="Arial" panose="020B0604020202020204" pitchFamily="34" charset="0"/>
              </a:rPr>
              <a:t>Rule-Based Labelling &amp; Class Imbalance</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AF70B200-960D-3B88-D178-D3F80F88B351}"/>
              </a:ext>
            </a:extLst>
          </p:cNvPr>
          <p:cNvSpPr txBox="1"/>
          <p:nvPr/>
        </p:nvSpPr>
        <p:spPr>
          <a:xfrm>
            <a:off x="634380" y="1724721"/>
            <a:ext cx="10705171" cy="3477875"/>
          </a:xfrm>
          <a:prstGeom prst="rect">
            <a:avLst/>
          </a:prstGeom>
          <a:noFill/>
        </p:spPr>
        <p:txBody>
          <a:bodyPr wrap="square" rtlCol="0">
            <a:spAutoFit/>
          </a:bodyPr>
          <a:lstStyle/>
          <a:p>
            <a:pPr marL="380990" indent="-380990">
              <a:buFont typeface="Wingdings" panose="05000000000000000000" pitchFamily="2" charset="2"/>
              <a:buChar char="Ø"/>
            </a:pPr>
            <a:r>
              <a:rPr lang="en-US" sz="2000" dirty="0">
                <a:latin typeface="Arial" panose="020B0604020202020204" pitchFamily="34" charset="0"/>
                <a:cs typeface="Arial" panose="020B0604020202020204" pitchFamily="34" charset="0"/>
              </a:rPr>
              <a:t>Technical and fundamental indicator vocabularies were defined using the sources described previously</a:t>
            </a:r>
          </a:p>
          <a:p>
            <a:pPr marL="380990" indent="-380990">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US" sz="2000" dirty="0">
                <a:latin typeface="Arial" panose="020B0604020202020204" pitchFamily="34" charset="0"/>
                <a:cs typeface="Arial" panose="020B0604020202020204" pitchFamily="34" charset="0"/>
              </a:rPr>
              <a:t>All indicators were implemented as </a:t>
            </a:r>
            <a:r>
              <a:rPr lang="en-US" sz="2000" b="1" dirty="0">
                <a:latin typeface="Arial" panose="020B0604020202020204" pitchFamily="34" charset="0"/>
                <a:cs typeface="Arial" panose="020B0604020202020204" pitchFamily="34" charset="0"/>
              </a:rPr>
              <a:t>regex-based rules in Python (Google </a:t>
            </a:r>
            <a:r>
              <a:rPr lang="en-US" sz="2000" b="1" dirty="0" err="1">
                <a:latin typeface="Arial" panose="020B0604020202020204" pitchFamily="34" charset="0"/>
                <a:cs typeface="Arial" panose="020B0604020202020204" pitchFamily="34" charset="0"/>
              </a:rPr>
              <a:t>Colab</a:t>
            </a:r>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and applied to the full dataset</a:t>
            </a:r>
          </a:p>
          <a:p>
            <a:pPr marL="380990" indent="-380990">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US" sz="2000" dirty="0">
                <a:latin typeface="Arial" panose="020B0604020202020204" pitchFamily="34" charset="0"/>
                <a:cs typeface="Arial" panose="020B0604020202020204" pitchFamily="34" charset="0"/>
              </a:rPr>
              <a:t>Posts were labeled as:</a:t>
            </a:r>
          </a:p>
          <a:p>
            <a:r>
              <a:rPr lang="en-US" sz="2000" b="1" dirty="0">
                <a:latin typeface="Arial" panose="020B0604020202020204" pitchFamily="34" charset="0"/>
                <a:cs typeface="Arial" panose="020B0604020202020204" pitchFamily="34" charset="0"/>
              </a:rPr>
              <a:t>	0</a:t>
            </a:r>
            <a:r>
              <a:rPr lang="en-US" sz="2000" dirty="0">
                <a:latin typeface="Arial" panose="020B0604020202020204" pitchFamily="34" charset="0"/>
                <a:cs typeface="Arial" panose="020B0604020202020204" pitchFamily="34" charset="0"/>
              </a:rPr>
              <a:t> = No indicator detected</a:t>
            </a:r>
          </a:p>
          <a:p>
            <a:r>
              <a:rPr lang="en-US" sz="2000" b="1" dirty="0">
                <a:latin typeface="Arial" panose="020B0604020202020204" pitchFamily="34" charset="0"/>
                <a:cs typeface="Arial" panose="020B0604020202020204" pitchFamily="34" charset="0"/>
              </a:rPr>
              <a:t>	1</a:t>
            </a:r>
            <a:r>
              <a:rPr lang="en-US" sz="2000" dirty="0">
                <a:latin typeface="Arial" panose="020B0604020202020204" pitchFamily="34" charset="0"/>
                <a:cs typeface="Arial" panose="020B0604020202020204" pitchFamily="34" charset="0"/>
              </a:rPr>
              <a:t> = General TA / FA language</a:t>
            </a:r>
          </a:p>
          <a:p>
            <a:r>
              <a:rPr lang="en-US" sz="2000" b="1" dirty="0">
                <a:latin typeface="Arial" panose="020B0604020202020204" pitchFamily="34" charset="0"/>
                <a:cs typeface="Arial" panose="020B0604020202020204" pitchFamily="34" charset="0"/>
              </a:rPr>
              <a:t>	2</a:t>
            </a:r>
            <a:r>
              <a:rPr lang="en-US" sz="2000" dirty="0">
                <a:latin typeface="Arial" panose="020B0604020202020204" pitchFamily="34" charset="0"/>
                <a:cs typeface="Arial" panose="020B0604020202020204" pitchFamily="34" charset="0"/>
              </a:rPr>
              <a:t> = Explicit indicator usage</a:t>
            </a:r>
          </a:p>
          <a:p>
            <a:pPr marL="380990" indent="-380990">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18B1FB02-E385-34C6-3258-BE934DC7F951}"/>
              </a:ext>
            </a:extLst>
          </p:cNvPr>
          <p:cNvGraphicFramePr>
            <a:graphicFrameLocks noGrp="1"/>
          </p:cNvGraphicFramePr>
          <p:nvPr>
            <p:extLst>
              <p:ext uri="{D42A27DB-BD31-4B8C-83A1-F6EECF244321}">
                <p14:modId xmlns:p14="http://schemas.microsoft.com/office/powerpoint/2010/main" val="3947621289"/>
              </p:ext>
            </p:extLst>
          </p:nvPr>
        </p:nvGraphicFramePr>
        <p:xfrm>
          <a:off x="3617537" y="5375427"/>
          <a:ext cx="4252745" cy="1258044"/>
        </p:xfrm>
        <a:graphic>
          <a:graphicData uri="http://schemas.openxmlformats.org/drawingml/2006/table">
            <a:tbl>
              <a:tblPr/>
              <a:tblGrid>
                <a:gridCol w="639793">
                  <a:extLst>
                    <a:ext uri="{9D8B030D-6E8A-4147-A177-3AD203B41FA5}">
                      <a16:colId xmlns:a16="http://schemas.microsoft.com/office/drawing/2014/main" val="3978406996"/>
                    </a:ext>
                  </a:extLst>
                </a:gridCol>
                <a:gridCol w="1016143">
                  <a:extLst>
                    <a:ext uri="{9D8B030D-6E8A-4147-A177-3AD203B41FA5}">
                      <a16:colId xmlns:a16="http://schemas.microsoft.com/office/drawing/2014/main" val="1056056188"/>
                    </a:ext>
                  </a:extLst>
                </a:gridCol>
                <a:gridCol w="790333">
                  <a:extLst>
                    <a:ext uri="{9D8B030D-6E8A-4147-A177-3AD203B41FA5}">
                      <a16:colId xmlns:a16="http://schemas.microsoft.com/office/drawing/2014/main" val="2488201747"/>
                    </a:ext>
                  </a:extLst>
                </a:gridCol>
                <a:gridCol w="1016143">
                  <a:extLst>
                    <a:ext uri="{9D8B030D-6E8A-4147-A177-3AD203B41FA5}">
                      <a16:colId xmlns:a16="http://schemas.microsoft.com/office/drawing/2014/main" val="3177562487"/>
                    </a:ext>
                  </a:extLst>
                </a:gridCol>
                <a:gridCol w="790333">
                  <a:extLst>
                    <a:ext uri="{9D8B030D-6E8A-4147-A177-3AD203B41FA5}">
                      <a16:colId xmlns:a16="http://schemas.microsoft.com/office/drawing/2014/main" val="1318133827"/>
                    </a:ext>
                  </a:extLst>
                </a:gridCol>
              </a:tblGrid>
              <a:tr h="314511">
                <a:tc>
                  <a:txBody>
                    <a:bodyPr/>
                    <a:lstStyle/>
                    <a:p>
                      <a:pPr algn="ctr" fontAlgn="ctr">
                        <a:buNone/>
                      </a:pPr>
                      <a:r>
                        <a:rPr lang="en-IN" sz="1500" b="1" u="none" strike="noStrike" dirty="0">
                          <a:effectLst/>
                          <a:latin typeface="Arial" panose="020B0604020202020204" pitchFamily="34" charset="0"/>
                          <a:cs typeface="Arial" panose="020B0604020202020204" pitchFamily="34" charset="0"/>
                        </a:rPr>
                        <a:t>Label</a:t>
                      </a:r>
                      <a:endParaRPr lang="en-IN" sz="1500" b="1"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b="1" u="none" strike="noStrike" dirty="0">
                          <a:effectLst/>
                          <a:latin typeface="Arial" panose="020B0604020202020204" pitchFamily="34" charset="0"/>
                          <a:cs typeface="Arial" panose="020B0604020202020204" pitchFamily="34" charset="0"/>
                        </a:rPr>
                        <a:t>TA Count</a:t>
                      </a:r>
                      <a:endParaRPr lang="en-IN" sz="1500" b="1"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b="1" u="none" strike="noStrike">
                          <a:effectLst/>
                          <a:latin typeface="Arial" panose="020B0604020202020204" pitchFamily="34" charset="0"/>
                          <a:cs typeface="Arial" panose="020B0604020202020204" pitchFamily="34" charset="0"/>
                        </a:rPr>
                        <a:t>TA %</a:t>
                      </a:r>
                      <a:endParaRPr lang="en-IN" sz="1500" b="1" i="0" u="none" strike="noStrike">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b="1" u="none" strike="noStrike">
                          <a:effectLst/>
                          <a:latin typeface="Arial" panose="020B0604020202020204" pitchFamily="34" charset="0"/>
                          <a:cs typeface="Arial" panose="020B0604020202020204" pitchFamily="34" charset="0"/>
                        </a:rPr>
                        <a:t>FA Count</a:t>
                      </a:r>
                      <a:endParaRPr lang="en-IN" sz="1500" b="1" i="0" u="none" strike="noStrike">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b="1" u="none" strike="noStrike" dirty="0">
                          <a:effectLst/>
                          <a:latin typeface="Arial" panose="020B0604020202020204" pitchFamily="34" charset="0"/>
                          <a:cs typeface="Arial" panose="020B0604020202020204" pitchFamily="34" charset="0"/>
                        </a:rPr>
                        <a:t>FA %</a:t>
                      </a:r>
                      <a:endParaRPr lang="en-IN" sz="1500" b="1"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ctr"/>
                </a:tc>
                <a:extLst>
                  <a:ext uri="{0D108BD9-81ED-4DB2-BD59-A6C34878D82A}">
                    <a16:rowId xmlns:a16="http://schemas.microsoft.com/office/drawing/2014/main" val="397482800"/>
                  </a:ext>
                </a:extLst>
              </a:tr>
              <a:tr h="314511">
                <a:tc>
                  <a:txBody>
                    <a:bodyPr/>
                    <a:lstStyle/>
                    <a:p>
                      <a:pPr algn="ctr" fontAlgn="b">
                        <a:buNone/>
                      </a:pPr>
                      <a:r>
                        <a:rPr lang="en-IN" sz="1500" u="none" strike="noStrike" dirty="0">
                          <a:effectLst/>
                          <a:latin typeface="Arial" panose="020B0604020202020204" pitchFamily="34" charset="0"/>
                          <a:cs typeface="Arial" panose="020B0604020202020204" pitchFamily="34" charset="0"/>
                        </a:rPr>
                        <a:t>0</a:t>
                      </a:r>
                      <a:endParaRPr lang="en-IN" sz="1500" b="0"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b"/>
                </a:tc>
                <a:tc>
                  <a:txBody>
                    <a:bodyPr/>
                    <a:lstStyle/>
                    <a:p>
                      <a:pPr algn="ctr" fontAlgn="ctr">
                        <a:buNone/>
                      </a:pPr>
                      <a:r>
                        <a:rPr lang="en-IN" sz="1500" u="none" strike="noStrike" dirty="0">
                          <a:effectLst/>
                          <a:latin typeface="Arial" panose="020B0604020202020204" pitchFamily="34" charset="0"/>
                          <a:cs typeface="Arial" panose="020B0604020202020204" pitchFamily="34" charset="0"/>
                        </a:rPr>
                        <a:t>4M</a:t>
                      </a:r>
                      <a:endParaRPr lang="en-IN" sz="1500" b="0"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u="none" strike="noStrike" dirty="0">
                          <a:effectLst/>
                          <a:latin typeface="Arial" panose="020B0604020202020204" pitchFamily="34" charset="0"/>
                          <a:cs typeface="Arial" panose="020B0604020202020204" pitchFamily="34" charset="0"/>
                        </a:rPr>
                        <a:t>97.21%</a:t>
                      </a:r>
                      <a:endParaRPr lang="en-IN" sz="1500" b="0"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u="none" strike="noStrike" dirty="0">
                          <a:effectLst/>
                          <a:latin typeface="Arial" panose="020B0604020202020204" pitchFamily="34" charset="0"/>
                          <a:cs typeface="Arial" panose="020B0604020202020204" pitchFamily="34" charset="0"/>
                        </a:rPr>
                        <a:t>3.86M</a:t>
                      </a:r>
                      <a:endParaRPr lang="en-IN" sz="1500" b="0"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u="none" strike="noStrike">
                          <a:effectLst/>
                          <a:latin typeface="Arial" panose="020B0604020202020204" pitchFamily="34" charset="0"/>
                          <a:cs typeface="Arial" panose="020B0604020202020204" pitchFamily="34" charset="0"/>
                        </a:rPr>
                        <a:t>92.74%</a:t>
                      </a:r>
                      <a:endParaRPr lang="en-IN" sz="1500" b="0" i="0" u="none" strike="noStrike">
                        <a:solidFill>
                          <a:srgbClr val="000000"/>
                        </a:solidFill>
                        <a:effectLst/>
                        <a:latin typeface="Arial" panose="020B0604020202020204" pitchFamily="34" charset="0"/>
                        <a:cs typeface="Arial" panose="020B0604020202020204" pitchFamily="34" charset="0"/>
                      </a:endParaRPr>
                    </a:p>
                  </a:txBody>
                  <a:tcPr marL="10160" marR="10160" marT="10160" marB="0" anchor="ctr"/>
                </a:tc>
                <a:extLst>
                  <a:ext uri="{0D108BD9-81ED-4DB2-BD59-A6C34878D82A}">
                    <a16:rowId xmlns:a16="http://schemas.microsoft.com/office/drawing/2014/main" val="3331054108"/>
                  </a:ext>
                </a:extLst>
              </a:tr>
              <a:tr h="314511">
                <a:tc>
                  <a:txBody>
                    <a:bodyPr/>
                    <a:lstStyle/>
                    <a:p>
                      <a:pPr algn="ctr" fontAlgn="b">
                        <a:buNone/>
                      </a:pPr>
                      <a:r>
                        <a:rPr lang="en-IN" sz="1500" u="none" strike="noStrike" dirty="0">
                          <a:effectLst/>
                          <a:latin typeface="Arial" panose="020B0604020202020204" pitchFamily="34" charset="0"/>
                          <a:cs typeface="Arial" panose="020B0604020202020204" pitchFamily="34" charset="0"/>
                        </a:rPr>
                        <a:t>1</a:t>
                      </a:r>
                      <a:endParaRPr lang="en-IN" sz="1500" b="0"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b"/>
                </a:tc>
                <a:tc>
                  <a:txBody>
                    <a:bodyPr/>
                    <a:lstStyle/>
                    <a:p>
                      <a:pPr algn="ctr" fontAlgn="ctr">
                        <a:buNone/>
                      </a:pPr>
                      <a:r>
                        <a:rPr lang="en-IN" sz="1500" u="none" strike="noStrike">
                          <a:effectLst/>
                          <a:latin typeface="Arial" panose="020B0604020202020204" pitchFamily="34" charset="0"/>
                          <a:cs typeface="Arial" panose="020B0604020202020204" pitchFamily="34" charset="0"/>
                        </a:rPr>
                        <a:t>48K</a:t>
                      </a:r>
                      <a:endParaRPr lang="en-IN" sz="1500" b="0" i="0" u="none" strike="noStrike">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u="none" strike="noStrike" dirty="0">
                          <a:effectLst/>
                          <a:latin typeface="Arial" panose="020B0604020202020204" pitchFamily="34" charset="0"/>
                          <a:cs typeface="Arial" panose="020B0604020202020204" pitchFamily="34" charset="0"/>
                        </a:rPr>
                        <a:t>1.64%</a:t>
                      </a:r>
                      <a:endParaRPr lang="en-IN" sz="1500" b="0"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u="none" strike="noStrike">
                          <a:effectLst/>
                          <a:latin typeface="Arial" panose="020B0604020202020204" pitchFamily="34" charset="0"/>
                          <a:cs typeface="Arial" panose="020B0604020202020204" pitchFamily="34" charset="0"/>
                        </a:rPr>
                        <a:t>68K</a:t>
                      </a:r>
                      <a:endParaRPr lang="en-IN" sz="1500" b="0" i="0" u="none" strike="noStrike">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u="none" strike="noStrike" dirty="0">
                          <a:effectLst/>
                          <a:latin typeface="Arial" panose="020B0604020202020204" pitchFamily="34" charset="0"/>
                          <a:cs typeface="Arial" panose="020B0604020202020204" pitchFamily="34" charset="0"/>
                        </a:rPr>
                        <a:t>1.63%</a:t>
                      </a:r>
                      <a:endParaRPr lang="en-IN" sz="1500" b="0"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ctr"/>
                </a:tc>
                <a:extLst>
                  <a:ext uri="{0D108BD9-81ED-4DB2-BD59-A6C34878D82A}">
                    <a16:rowId xmlns:a16="http://schemas.microsoft.com/office/drawing/2014/main" val="3172110647"/>
                  </a:ext>
                </a:extLst>
              </a:tr>
              <a:tr h="314511">
                <a:tc>
                  <a:txBody>
                    <a:bodyPr/>
                    <a:lstStyle/>
                    <a:p>
                      <a:pPr algn="ctr" fontAlgn="b">
                        <a:buNone/>
                      </a:pPr>
                      <a:r>
                        <a:rPr lang="en-IN" sz="1500" u="none" strike="noStrike" dirty="0">
                          <a:effectLst/>
                          <a:latin typeface="Arial" panose="020B0604020202020204" pitchFamily="34" charset="0"/>
                          <a:cs typeface="Arial" panose="020B0604020202020204" pitchFamily="34" charset="0"/>
                        </a:rPr>
                        <a:t>2</a:t>
                      </a:r>
                      <a:endParaRPr lang="en-IN" sz="1500" b="0"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b"/>
                </a:tc>
                <a:tc>
                  <a:txBody>
                    <a:bodyPr/>
                    <a:lstStyle/>
                    <a:p>
                      <a:pPr algn="ctr" fontAlgn="ctr">
                        <a:buNone/>
                      </a:pPr>
                      <a:r>
                        <a:rPr lang="en-IN" sz="1500" u="none" strike="noStrike">
                          <a:effectLst/>
                          <a:latin typeface="Arial" panose="020B0604020202020204" pitchFamily="34" charset="0"/>
                          <a:cs typeface="Arial" panose="020B0604020202020204" pitchFamily="34" charset="0"/>
                        </a:rPr>
                        <a:t>68K</a:t>
                      </a:r>
                      <a:endParaRPr lang="en-IN" sz="1500" b="0" i="0" u="none" strike="noStrike">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u="none" strike="noStrike">
                          <a:effectLst/>
                          <a:latin typeface="Arial" panose="020B0604020202020204" pitchFamily="34" charset="0"/>
                          <a:cs typeface="Arial" panose="020B0604020202020204" pitchFamily="34" charset="0"/>
                        </a:rPr>
                        <a:t>1.15%</a:t>
                      </a:r>
                      <a:endParaRPr lang="en-IN" sz="1500" b="0" i="0" u="none" strike="noStrike">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u="none" strike="noStrike">
                          <a:effectLst/>
                          <a:latin typeface="Arial" panose="020B0604020202020204" pitchFamily="34" charset="0"/>
                          <a:cs typeface="Arial" panose="020B0604020202020204" pitchFamily="34" charset="0"/>
                        </a:rPr>
                        <a:t>234K</a:t>
                      </a:r>
                      <a:endParaRPr lang="en-IN" sz="1500" b="0" i="0" u="none" strike="noStrike">
                        <a:solidFill>
                          <a:srgbClr val="000000"/>
                        </a:solidFill>
                        <a:effectLst/>
                        <a:latin typeface="Arial" panose="020B0604020202020204" pitchFamily="34" charset="0"/>
                        <a:cs typeface="Arial" panose="020B0604020202020204" pitchFamily="34" charset="0"/>
                      </a:endParaRPr>
                    </a:p>
                  </a:txBody>
                  <a:tcPr marL="10160" marR="10160" marT="10160" marB="0" anchor="ctr"/>
                </a:tc>
                <a:tc>
                  <a:txBody>
                    <a:bodyPr/>
                    <a:lstStyle/>
                    <a:p>
                      <a:pPr algn="ctr" fontAlgn="ctr">
                        <a:buNone/>
                      </a:pPr>
                      <a:r>
                        <a:rPr lang="en-IN" sz="1500" u="none" strike="noStrike" dirty="0">
                          <a:effectLst/>
                          <a:latin typeface="Arial" panose="020B0604020202020204" pitchFamily="34" charset="0"/>
                          <a:cs typeface="Arial" panose="020B0604020202020204" pitchFamily="34" charset="0"/>
                        </a:rPr>
                        <a:t>5.62%</a:t>
                      </a:r>
                      <a:endParaRPr lang="en-IN" sz="1500" b="0" i="0" u="none" strike="noStrike" dirty="0">
                        <a:solidFill>
                          <a:srgbClr val="000000"/>
                        </a:solidFill>
                        <a:effectLst/>
                        <a:latin typeface="Arial" panose="020B0604020202020204" pitchFamily="34" charset="0"/>
                        <a:cs typeface="Arial" panose="020B0604020202020204" pitchFamily="34" charset="0"/>
                      </a:endParaRPr>
                    </a:p>
                  </a:txBody>
                  <a:tcPr marL="10160" marR="10160" marT="10160" marB="0" anchor="ctr"/>
                </a:tc>
                <a:extLst>
                  <a:ext uri="{0D108BD9-81ED-4DB2-BD59-A6C34878D82A}">
                    <a16:rowId xmlns:a16="http://schemas.microsoft.com/office/drawing/2014/main" val="817455047"/>
                  </a:ext>
                </a:extLst>
              </a:tr>
            </a:tbl>
          </a:graphicData>
        </a:graphic>
      </p:graphicFrame>
      <p:sp>
        <p:nvSpPr>
          <p:cNvPr id="3" name="TextBox 2">
            <a:extLst>
              <a:ext uri="{FF2B5EF4-FFF2-40B4-BE49-F238E27FC236}">
                <a16:creationId xmlns:a16="http://schemas.microsoft.com/office/drawing/2014/main" id="{7B2D3E7B-46CA-89C9-6F9C-42C99DF58B4C}"/>
              </a:ext>
            </a:extLst>
          </p:cNvPr>
          <p:cNvSpPr txBox="1"/>
          <p:nvPr/>
        </p:nvSpPr>
        <p:spPr>
          <a:xfrm>
            <a:off x="3062660" y="4965058"/>
            <a:ext cx="5629056"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Distribution of Rule-Based TA and FA Labels</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1315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1F4E9E46-A2B6-409D-0D5E-132CB7A9C51E}"/>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5E67C765-A464-AAE3-27D1-84DED7308C9F}"/>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en-IN" sz="4000" b="1" dirty="0">
                <a:latin typeface="Arial" panose="020B0604020202020204" pitchFamily="34" charset="0"/>
                <a:cs typeface="Arial" panose="020B0604020202020204" pitchFamily="34" charset="0"/>
              </a:rPr>
              <a:t>Balanced Dataset &amp; GPT </a:t>
            </a:r>
            <a:r>
              <a:rPr lang="en-IN" sz="4000" b="1" dirty="0" err="1">
                <a:latin typeface="Arial" panose="020B0604020202020204" pitchFamily="34" charset="0"/>
                <a:cs typeface="Arial" panose="020B0604020202020204" pitchFamily="34" charset="0"/>
              </a:rPr>
              <a:t>Labeling</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09712FBA-852E-5AB9-A714-4D7556A31AB9}"/>
              </a:ext>
            </a:extLst>
          </p:cNvPr>
          <p:cNvSpPr txBox="1"/>
          <p:nvPr/>
        </p:nvSpPr>
        <p:spPr>
          <a:xfrm>
            <a:off x="634380" y="1724722"/>
            <a:ext cx="4876800" cy="4401205"/>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Validation Strategy</a:t>
            </a:r>
            <a:r>
              <a:rPr lang="en-US" sz="2000" b="1"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Sampled ~20,000 posts with equal representation from each class</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Uploaded balanced data to GPT for independent labelling</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GPT classified:</a:t>
            </a:r>
          </a:p>
          <a:p>
            <a:pPr lvl="1"/>
            <a:r>
              <a:rPr lang="en-IN" sz="2000" dirty="0">
                <a:latin typeface="Arial" panose="020B0604020202020204" pitchFamily="34" charset="0"/>
                <a:cs typeface="Arial" panose="020B0604020202020204" pitchFamily="34" charset="0"/>
              </a:rPr>
              <a:t>        - Presence of TA / FA</a:t>
            </a:r>
          </a:p>
          <a:p>
            <a:pPr lvl="1"/>
            <a:r>
              <a:rPr lang="en-IN" sz="2000" dirty="0">
                <a:latin typeface="Arial" panose="020B0604020202020204" pitchFamily="34" charset="0"/>
                <a:cs typeface="Arial" panose="020B0604020202020204" pitchFamily="34" charset="0"/>
              </a:rPr>
              <a:t>        - Indicator or topic (if applicable)</a:t>
            </a:r>
          </a:p>
          <a:p>
            <a:pPr marL="380990" indent="-380990">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130C2774-F7C4-38B9-DF14-0205F059C780}"/>
              </a:ext>
            </a:extLst>
          </p:cNvPr>
          <p:cNvSpPr txBox="1"/>
          <p:nvPr/>
        </p:nvSpPr>
        <p:spPr>
          <a:xfrm>
            <a:off x="5719336" y="1724722"/>
            <a:ext cx="5283200" cy="4708981"/>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Key results:</a:t>
            </a:r>
          </a:p>
          <a:p>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~20% disagreement between rule-based labels and GPT for TA</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~35% disagreement between rule-based labels and GPT for FA</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Highlights ambiguity and limits of purely rule-based methods</a:t>
            </a:r>
          </a:p>
          <a:p>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0705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8FA947BC-086B-8284-23AD-A5AE54EF1BBB}"/>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EF6CF920-4775-1B08-42E1-A14DD84BFF60}"/>
              </a:ext>
            </a:extLst>
          </p:cNvPr>
          <p:cNvSpPr txBox="1">
            <a:spLocks noGrp="1"/>
          </p:cNvSpPr>
          <p:nvPr>
            <p:ph type="title"/>
          </p:nvPr>
        </p:nvSpPr>
        <p:spPr>
          <a:xfrm>
            <a:off x="399561" y="209909"/>
            <a:ext cx="10272000" cy="2474298"/>
          </a:xfrm>
          <a:prstGeom prst="rect">
            <a:avLst/>
          </a:prstGeom>
        </p:spPr>
        <p:txBody>
          <a:bodyPr spcFirstLastPara="1" vert="horz" wrap="square" lIns="121900" tIns="121900" rIns="121900" bIns="121900" rtlCol="0" anchor="t" anchorCtr="0">
            <a:noAutofit/>
          </a:bodyPr>
          <a:lstStyle/>
          <a:p>
            <a:pPr marL="571500" indent="-571500">
              <a:buFont typeface="Wingdings" panose="05000000000000000000" pitchFamily="2" charset="2"/>
              <a:buChar char="§"/>
            </a:pPr>
            <a:r>
              <a:rPr lang="en-US" sz="2000" b="1" dirty="0">
                <a:latin typeface="Arial" panose="020B0604020202020204" pitchFamily="34" charset="0"/>
                <a:cs typeface="Arial" panose="020B0604020202020204" pitchFamily="34" charset="0"/>
              </a:rPr>
              <a:t>Prompt Used for Technical Analysis Labeling in GPT:</a:t>
            </a:r>
            <a:br>
              <a:rPr lang="en-US" sz="1800" b="1" dirty="0">
                <a:latin typeface="Arial" panose="020B0604020202020204" pitchFamily="34" charset="0"/>
                <a:cs typeface="Arial" panose="020B0604020202020204" pitchFamily="34" charset="0"/>
              </a:rPr>
            </a:br>
            <a:br>
              <a:rPr lang="en-US" sz="1800" b="1"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"You have a deep understanding of the language of social media and financial markets. Please </a:t>
            </a:r>
            <a:r>
              <a:rPr lang="en-IN" sz="1800" dirty="0" err="1">
                <a:latin typeface="Arial" panose="020B0604020202020204" pitchFamily="34" charset="0"/>
                <a:cs typeface="Arial" panose="020B0604020202020204" pitchFamily="34" charset="0"/>
              </a:rPr>
              <a:t>analyze</a:t>
            </a:r>
            <a:r>
              <a:rPr lang="en-IN" sz="1800" dirty="0">
                <a:latin typeface="Arial" panose="020B0604020202020204" pitchFamily="34" charset="0"/>
                <a:cs typeface="Arial" panose="020B0604020202020204" pitchFamily="34" charset="0"/>
              </a:rPr>
              <a:t> the message from an investor social media platform. Please parse the message along two dimensions. 1) Presence of technical analysis (0=no, 1=possibly, 2=likely). 2) if technical analysis is used, what is the technical indicator? (output the indicator or "" if you cannot locate it. If multiple signals exist, please separate by a comma) Output in CSV format: {"</a:t>
            </a:r>
            <a:r>
              <a:rPr lang="en-IN" sz="1800" dirty="0" err="1">
                <a:latin typeface="Arial" panose="020B0604020202020204" pitchFamily="34" charset="0"/>
                <a:cs typeface="Arial" panose="020B0604020202020204" pitchFamily="34" charset="0"/>
              </a:rPr>
              <a:t>technical_analysis</a:t>
            </a:r>
            <a:r>
              <a:rPr lang="en-IN" sz="1800" dirty="0">
                <a:latin typeface="Arial" panose="020B0604020202020204" pitchFamily="34" charset="0"/>
                <a:cs typeface="Arial" panose="020B0604020202020204" pitchFamily="34" charset="0"/>
              </a:rPr>
              <a:t>":, "</a:t>
            </a:r>
            <a:r>
              <a:rPr lang="en-IN" sz="1800" dirty="0" err="1">
                <a:latin typeface="Arial" panose="020B0604020202020204" pitchFamily="34" charset="0"/>
                <a:cs typeface="Arial" panose="020B0604020202020204" pitchFamily="34" charset="0"/>
              </a:rPr>
              <a:t>techni</a:t>
            </a:r>
            <a:r>
              <a:rPr lang="en-IN" sz="1800" dirty="0">
                <a:latin typeface="Arial" panose="020B0604020202020204" pitchFamily="34" charset="0"/>
                <a:cs typeface="Arial" panose="020B0604020202020204" pitchFamily="34" charset="0"/>
              </a:rPr>
              <a:t> </a:t>
            </a:r>
            <a:r>
              <a:rPr lang="en-IN" sz="1800" dirty="0" err="1">
                <a:latin typeface="Arial" panose="020B0604020202020204" pitchFamily="34" charset="0"/>
                <a:cs typeface="Arial" panose="020B0604020202020204" pitchFamily="34" charset="0"/>
              </a:rPr>
              <a:t>cal_indicator</a:t>
            </a:r>
            <a:r>
              <a:rPr lang="en-IN" sz="1800" dirty="0">
                <a:latin typeface="Arial" panose="020B0604020202020204" pitchFamily="34" charset="0"/>
                <a:cs typeface="Arial" panose="020B0604020202020204" pitchFamily="34" charset="0"/>
              </a:rPr>
              <a:t>": }”.</a:t>
            </a:r>
            <a:br>
              <a:rPr lang="en-IN" sz="1800" dirty="0"/>
            </a:br>
            <a:br>
              <a:rPr lang="en-IN" sz="1800" dirty="0">
                <a:latin typeface="Arial" panose="020B0604020202020204" pitchFamily="34" charset="0"/>
                <a:cs typeface="Arial" panose="020B0604020202020204" pitchFamily="34" charset="0"/>
              </a:rPr>
            </a:br>
            <a:br>
              <a:rPr lang="en-IN" sz="1800" dirty="0">
                <a:latin typeface="Arial" panose="020B0604020202020204" pitchFamily="34" charset="0"/>
                <a:cs typeface="Arial" panose="020B0604020202020204" pitchFamily="34" charset="0"/>
              </a:rPr>
            </a:br>
            <a:endParaRPr sz="1800" b="1" dirty="0">
              <a:latin typeface="Arial" panose="020B0604020202020204" pitchFamily="34" charset="0"/>
              <a:cs typeface="Arial" panose="020B0604020202020204" pitchFamily="34" charset="0"/>
            </a:endParaRPr>
          </a:p>
        </p:txBody>
      </p:sp>
      <p:sp>
        <p:nvSpPr>
          <p:cNvPr id="2" name="Google Shape;1404;p35">
            <a:extLst>
              <a:ext uri="{FF2B5EF4-FFF2-40B4-BE49-F238E27FC236}">
                <a16:creationId xmlns:a16="http://schemas.microsoft.com/office/drawing/2014/main" id="{598C8508-1759-87D4-EEC7-3F3254CF0F3E}"/>
              </a:ext>
            </a:extLst>
          </p:cNvPr>
          <p:cNvSpPr txBox="1">
            <a:spLocks/>
          </p:cNvSpPr>
          <p:nvPr/>
        </p:nvSpPr>
        <p:spPr>
          <a:xfrm>
            <a:off x="325819" y="2928527"/>
            <a:ext cx="10272000" cy="2867589"/>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90000"/>
              </a:lnSpc>
              <a:spcBef>
                <a:spcPts val="0"/>
              </a:spcBef>
              <a:spcAft>
                <a:spcPts val="0"/>
              </a:spcAft>
              <a:buSzPts val="3000"/>
              <a:buNone/>
              <a:defRPr sz="4400" kern="1200">
                <a:solidFill>
                  <a:schemeClr val="tx1"/>
                </a:solidFill>
                <a:latin typeface="+mj-lt"/>
                <a:ea typeface="+mj-ea"/>
                <a:cs typeface="+mj-c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pPr marL="571500" indent="-571500">
              <a:buFont typeface="Wingdings" panose="05000000000000000000" pitchFamily="2" charset="2"/>
              <a:buChar char="§"/>
            </a:pPr>
            <a:r>
              <a:rPr lang="en-US" sz="2000" b="1" dirty="0">
                <a:latin typeface="Arial" panose="020B0604020202020204" pitchFamily="34" charset="0"/>
                <a:cs typeface="Arial" panose="020B0604020202020204" pitchFamily="34" charset="0"/>
              </a:rPr>
              <a:t>Prompt Used for Fundamental Analysis Labeling in GPT:</a:t>
            </a:r>
            <a:br>
              <a:rPr lang="en-US" sz="2000" b="1" dirty="0">
                <a:latin typeface="Arial" panose="020B0604020202020204" pitchFamily="34" charset="0"/>
                <a:cs typeface="Arial" panose="020B0604020202020204" pitchFamily="34" charset="0"/>
              </a:rPr>
            </a:br>
            <a:br>
              <a:rPr lang="en-US" sz="2000" b="1"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"You have a deep understanding of the language of social media and financial markets. Please analyze the message from an investor social media platform. Please parse the message along two dimensions. 1) Presence of fundamental analysis (0=no, 1=possibly, 2=likely). 2) If fundamental analysis is used, select one of the following 15 topics that is most relevant: "acquisitions-mergers", "analyst-ratings", "assets", "bankruptcy", "credit", "credit-ratings", "dividends", "earnings", "equity-actions", "investor relations","labor-issues","marketing","price-targets","products-services", "revenues". Output in CSV format: {"</a:t>
            </a:r>
            <a:r>
              <a:rPr lang="en-US" sz="1800" dirty="0" err="1">
                <a:latin typeface="Arial" panose="020B0604020202020204" pitchFamily="34" charset="0"/>
                <a:cs typeface="Arial" panose="020B0604020202020204" pitchFamily="34" charset="0"/>
              </a:rPr>
              <a:t>fundamental_analysis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fundamental_topic</a:t>
            </a:r>
            <a:r>
              <a:rPr lang="en-US" sz="18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2166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D131108F-78DE-6D6E-FA9C-270E98524D9D}"/>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F3B9D8D1-B36E-CD84-C5F5-A9024B300227}"/>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en-IN" sz="4000" b="1" dirty="0">
                <a:latin typeface="Arial" panose="020B0604020202020204" pitchFamily="34" charset="0"/>
                <a:cs typeface="Arial" panose="020B0604020202020204" pitchFamily="34" charset="0"/>
              </a:rPr>
              <a:t>BERT Model Training (TA &amp; FA)</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9B9FB18E-0005-0F3E-6E1D-A878F520A25C}"/>
              </a:ext>
            </a:extLst>
          </p:cNvPr>
          <p:cNvSpPr txBox="1"/>
          <p:nvPr/>
        </p:nvSpPr>
        <p:spPr>
          <a:xfrm>
            <a:off x="614716" y="1631013"/>
            <a:ext cx="4876800" cy="3477875"/>
          </a:xfrm>
          <a:prstGeom prst="rect">
            <a:avLst/>
          </a:prstGeom>
          <a:noFill/>
        </p:spPr>
        <p:txBody>
          <a:bodyPr wrap="square" rtlCol="0">
            <a:spAutoFit/>
          </a:bodyPr>
          <a:lstStyle/>
          <a:p>
            <a:r>
              <a:rPr lang="en-IN" sz="2000" b="1" dirty="0" err="1">
                <a:latin typeface="Arial" panose="020B0604020202020204" pitchFamily="34" charset="0"/>
                <a:cs typeface="Arial" panose="020B0604020202020204" pitchFamily="34" charset="0"/>
              </a:rPr>
              <a:t>Modeling</a:t>
            </a:r>
            <a:r>
              <a:rPr lang="en-IN" sz="2000" b="1" dirty="0">
                <a:latin typeface="Arial" panose="020B0604020202020204" pitchFamily="34" charset="0"/>
                <a:cs typeface="Arial" panose="020B0604020202020204" pitchFamily="34" charset="0"/>
              </a:rPr>
              <a:t> Approach:</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Used pretrained </a:t>
            </a:r>
            <a:r>
              <a:rPr lang="en-IN" sz="2000" b="1" dirty="0">
                <a:latin typeface="Arial" panose="020B0604020202020204" pitchFamily="34" charset="0"/>
                <a:cs typeface="Arial" panose="020B0604020202020204" pitchFamily="34" charset="0"/>
              </a:rPr>
              <a:t>BERT-base-uncased</a:t>
            </a:r>
            <a:r>
              <a:rPr lang="en-IN" sz="2000" dirty="0">
                <a:latin typeface="Arial" panose="020B0604020202020204" pitchFamily="34" charset="0"/>
                <a:cs typeface="Arial" panose="020B0604020202020204" pitchFamily="34" charset="0"/>
              </a:rPr>
              <a:t> a</a:t>
            </a:r>
            <a:r>
              <a:rPr lang="en-IN" sz="2000" b="1" dirty="0">
                <a:latin typeface="Arial" panose="020B0604020202020204" pitchFamily="34" charset="0"/>
                <a:cs typeface="Arial" panose="020B0604020202020204" pitchFamily="34" charset="0"/>
              </a:rPr>
              <a:t>rchitecture</a:t>
            </a:r>
            <a:r>
              <a:rPr lang="en-IN" sz="2000" b="1" baseline="30000" dirty="0">
                <a:latin typeface="Arial" panose="020B0604020202020204" pitchFamily="34" charset="0"/>
                <a:cs typeface="Arial" panose="020B0604020202020204" pitchFamily="34" charset="0"/>
              </a:rPr>
              <a:t>1</a:t>
            </a:r>
            <a:endParaRPr lang="en-IN"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US" sz="2000" b="1" dirty="0">
                <a:latin typeface="Arial" panose="020B0604020202020204" pitchFamily="34" charset="0"/>
                <a:cs typeface="Arial" panose="020B0604020202020204" pitchFamily="34" charset="0"/>
              </a:rPr>
              <a:t>GPT-labeled balanced datasets</a:t>
            </a:r>
            <a:r>
              <a:rPr lang="en-US" sz="2000" dirty="0">
                <a:latin typeface="Arial" panose="020B0604020202020204" pitchFamily="34" charset="0"/>
                <a:cs typeface="Arial" panose="020B0604020202020204" pitchFamily="34" charset="0"/>
              </a:rPr>
              <a:t> used as training labels</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Separate models for:</a:t>
            </a:r>
          </a:p>
          <a:p>
            <a:r>
              <a:rPr lang="en-IN" sz="2000" dirty="0">
                <a:latin typeface="Arial" panose="020B0604020202020204" pitchFamily="34" charset="0"/>
                <a:cs typeface="Arial" panose="020B0604020202020204" pitchFamily="34" charset="0"/>
              </a:rPr>
              <a:t>        - TA detection (</a:t>
            </a:r>
            <a:r>
              <a:rPr lang="en-IN" sz="2000" dirty="0" err="1">
                <a:latin typeface="Arial" panose="020B0604020202020204" pitchFamily="34" charset="0"/>
                <a:cs typeface="Arial" panose="020B0604020202020204" pitchFamily="34" charset="0"/>
              </a:rPr>
              <a:t>TechBERT</a:t>
            </a:r>
            <a:r>
              <a:rPr lang="en-IN" sz="2000" dirty="0">
                <a:latin typeface="Arial" panose="020B0604020202020204" pitchFamily="34" charset="0"/>
                <a:cs typeface="Arial" panose="020B0604020202020204" pitchFamily="34" charset="0"/>
              </a:rPr>
              <a:t>)</a:t>
            </a:r>
          </a:p>
          <a:p>
            <a:r>
              <a:rPr lang="en-IN" sz="2000" dirty="0">
                <a:latin typeface="Arial" panose="020B0604020202020204" pitchFamily="34" charset="0"/>
                <a:cs typeface="Arial" panose="020B0604020202020204" pitchFamily="34" charset="0"/>
              </a:rPr>
              <a:t>        - FA detection (</a:t>
            </a:r>
            <a:r>
              <a:rPr lang="en-IN" sz="2000" dirty="0" err="1">
                <a:latin typeface="Arial" panose="020B0604020202020204" pitchFamily="34" charset="0"/>
                <a:cs typeface="Arial" panose="020B0604020202020204" pitchFamily="34" charset="0"/>
              </a:rPr>
              <a:t>FinBERT</a:t>
            </a:r>
            <a:r>
              <a:rPr lang="en-IN"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CD0C95C-F9AD-85B4-4A47-E98974CDFB23}"/>
              </a:ext>
            </a:extLst>
          </p:cNvPr>
          <p:cNvSpPr txBox="1"/>
          <p:nvPr/>
        </p:nvSpPr>
        <p:spPr>
          <a:xfrm>
            <a:off x="5709504" y="1532570"/>
            <a:ext cx="5283200" cy="4093428"/>
          </a:xfrm>
          <a:prstGeom prst="rect">
            <a:avLst/>
          </a:prstGeom>
          <a:noFill/>
        </p:spPr>
        <p:txBody>
          <a:bodyPr wrap="square" rtlCol="0">
            <a:spAutoFit/>
          </a:bodyPr>
          <a:lstStyle/>
          <a:p>
            <a:pPr marL="380990" indent="-380990">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Training Setup:</a:t>
            </a:r>
          </a:p>
          <a:p>
            <a:endParaRPr lang="en-IN" sz="2000" b="1"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IN" sz="2000" dirty="0">
                <a:latin typeface="Arial" panose="020B0604020202020204" pitchFamily="34" charset="0"/>
                <a:cs typeface="Arial" panose="020B0604020202020204" pitchFamily="34" charset="0"/>
              </a:rPr>
              <a:t>GPU-based training (</a:t>
            </a:r>
            <a:r>
              <a:rPr lang="en-IN" sz="2000" b="1" dirty="0">
                <a:latin typeface="Arial" panose="020B0604020202020204" pitchFamily="34" charset="0"/>
                <a:cs typeface="Arial" panose="020B0604020202020204" pitchFamily="34" charset="0"/>
              </a:rPr>
              <a:t>Google </a:t>
            </a:r>
            <a:r>
              <a:rPr lang="en-IN" sz="2000" b="1" dirty="0" err="1">
                <a:latin typeface="Arial" panose="020B0604020202020204" pitchFamily="34" charset="0"/>
                <a:cs typeface="Arial" panose="020B0604020202020204" pitchFamily="34" charset="0"/>
              </a:rPr>
              <a:t>Colab</a:t>
            </a:r>
            <a:r>
              <a:rPr lang="en-IN" sz="2000" dirty="0">
                <a:latin typeface="Arial" panose="020B0604020202020204" pitchFamily="34" charset="0"/>
                <a:cs typeface="Arial" panose="020B0604020202020204" pitchFamily="34" charset="0"/>
              </a:rPr>
              <a:t>)</a:t>
            </a: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US" sz="2000" dirty="0">
                <a:latin typeface="Arial" panose="020B0604020202020204" pitchFamily="34" charset="0"/>
                <a:cs typeface="Arial" panose="020B0604020202020204" pitchFamily="34" charset="0"/>
              </a:rPr>
              <a:t>5-fold cross-validation was used to obtain a robust performance estimate and reduce sensitivity to any single train–validation split</a:t>
            </a:r>
          </a:p>
          <a:p>
            <a:pPr marL="380990" indent="-380990">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r>
              <a:rPr lang="en-US" sz="2000" b="1" dirty="0">
                <a:latin typeface="Arial" panose="020B0604020202020204" pitchFamily="34" charset="0"/>
                <a:cs typeface="Arial" panose="020B0604020202020204" pitchFamily="34" charset="0"/>
              </a:rPr>
              <a:t>Macro F1</a:t>
            </a:r>
            <a:r>
              <a:rPr lang="en-US" sz="2000" dirty="0">
                <a:latin typeface="Arial" panose="020B0604020202020204" pitchFamily="34" charset="0"/>
                <a:cs typeface="Arial" panose="020B0604020202020204" pitchFamily="34" charset="0"/>
              </a:rPr>
              <a:t> used for evaluation</a:t>
            </a:r>
          </a:p>
          <a:p>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D4F157B-7D4B-E9DF-1A3F-53708E6DCE9B}"/>
              </a:ext>
            </a:extLst>
          </p:cNvPr>
          <p:cNvSpPr txBox="1"/>
          <p:nvPr/>
        </p:nvSpPr>
        <p:spPr>
          <a:xfrm>
            <a:off x="3808440" y="4987361"/>
            <a:ext cx="3870554" cy="1323439"/>
          </a:xfrm>
          <a:prstGeom prst="rect">
            <a:avLst/>
          </a:prstGeom>
          <a:noFill/>
        </p:spPr>
        <p:txBody>
          <a:bodyPr wrap="square" rtlCol="0">
            <a:spAutoFit/>
          </a:bodyPr>
          <a:lstStyle/>
          <a:p>
            <a:pPr algn="ctr"/>
            <a:r>
              <a:rPr lang="en-IN" sz="2000" b="1" dirty="0">
                <a:latin typeface="Arial" panose="020B0604020202020204" pitchFamily="34" charset="0"/>
                <a:cs typeface="Arial" panose="020B0604020202020204" pitchFamily="34" charset="0"/>
              </a:rPr>
              <a:t>Performance of training data:</a:t>
            </a:r>
          </a:p>
          <a:p>
            <a:pPr algn="ctr"/>
            <a:endParaRPr lang="en-IN" sz="2000" b="1"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sv-SE" sz="2000" b="1" dirty="0">
                <a:latin typeface="Arial" panose="020B0604020202020204" pitchFamily="34" charset="0"/>
                <a:cs typeface="Arial" panose="020B0604020202020204" pitchFamily="34" charset="0"/>
              </a:rPr>
              <a:t>TA model:</a:t>
            </a:r>
            <a:r>
              <a:rPr lang="sv-SE" sz="2000" dirty="0">
                <a:latin typeface="Arial" panose="020B0604020202020204" pitchFamily="34" charset="0"/>
                <a:cs typeface="Arial" panose="020B0604020202020204" pitchFamily="34" charset="0"/>
              </a:rPr>
              <a:t> Mean F1 ≈ </a:t>
            </a:r>
            <a:r>
              <a:rPr lang="sv-SE" sz="2000" b="1" dirty="0">
                <a:latin typeface="Arial" panose="020B0604020202020204" pitchFamily="34" charset="0"/>
                <a:cs typeface="Arial" panose="020B0604020202020204" pitchFamily="34" charset="0"/>
              </a:rPr>
              <a:t>0.88</a:t>
            </a:r>
          </a:p>
          <a:p>
            <a:pPr marL="342900" indent="-342900">
              <a:buFont typeface="Wingdings" panose="05000000000000000000" pitchFamily="2" charset="2"/>
              <a:buChar char="Ø"/>
            </a:pPr>
            <a:r>
              <a:rPr lang="it-IT" sz="2000" b="1" dirty="0">
                <a:latin typeface="Arial" panose="020B0604020202020204" pitchFamily="34" charset="0"/>
                <a:cs typeface="Arial" panose="020B0604020202020204" pitchFamily="34" charset="0"/>
              </a:rPr>
              <a:t>FA model:</a:t>
            </a:r>
            <a:r>
              <a:rPr lang="it-IT" sz="2000" dirty="0">
                <a:latin typeface="Arial" panose="020B0604020202020204" pitchFamily="34" charset="0"/>
                <a:cs typeface="Arial" panose="020B0604020202020204" pitchFamily="34" charset="0"/>
              </a:rPr>
              <a:t> Mean F1 ≈ </a:t>
            </a:r>
            <a:r>
              <a:rPr lang="it-IT" sz="2000" b="1" dirty="0">
                <a:latin typeface="Arial" panose="020B0604020202020204" pitchFamily="34" charset="0"/>
                <a:cs typeface="Arial" panose="020B0604020202020204" pitchFamily="34" charset="0"/>
              </a:rPr>
              <a:t>0.95</a:t>
            </a:r>
            <a:endParaRPr lang="en-IN"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4C19B02-EBE5-EB05-A81B-DBE89746C494}"/>
              </a:ext>
            </a:extLst>
          </p:cNvPr>
          <p:cNvSpPr txBox="1"/>
          <p:nvPr/>
        </p:nvSpPr>
        <p:spPr>
          <a:xfrm>
            <a:off x="683942" y="6264634"/>
            <a:ext cx="10824117" cy="501676"/>
          </a:xfrm>
          <a:prstGeom prst="rect">
            <a:avLst/>
          </a:prstGeom>
          <a:noFill/>
        </p:spPr>
        <p:txBody>
          <a:bodyPr wrap="square" rtlCol="0">
            <a:spAutoFit/>
          </a:bodyPr>
          <a:lstStyle/>
          <a:p>
            <a:r>
              <a:rPr lang="en-US" sz="1330" i="1" dirty="0">
                <a:latin typeface="Arial" panose="020B0604020202020204" pitchFamily="34" charset="0"/>
                <a:cs typeface="Arial" panose="020B0604020202020204" pitchFamily="34" charset="0"/>
              </a:rPr>
              <a:t>1. The BERT-base-uncased tokenizer was loaded through Hugging Face’s </a:t>
            </a:r>
            <a:r>
              <a:rPr lang="en-US" sz="1330" i="1" dirty="0" err="1">
                <a:latin typeface="Arial" panose="020B0604020202020204" pitchFamily="34" charset="0"/>
                <a:cs typeface="Arial" panose="020B0604020202020204" pitchFamily="34" charset="0"/>
              </a:rPr>
              <a:t>AutoTokenizer</a:t>
            </a:r>
            <a:r>
              <a:rPr lang="en-US" sz="1330" i="1" dirty="0">
                <a:latin typeface="Arial" panose="020B0604020202020204" pitchFamily="34" charset="0"/>
                <a:cs typeface="Arial" panose="020B0604020202020204" pitchFamily="34" charset="0"/>
              </a:rPr>
              <a:t> interface, allowing direct reuse of the original pretrained tokenization scheme without custom preprocessing.</a:t>
            </a:r>
            <a:endParaRPr lang="en-IN" sz="133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6602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B64E8F00-236F-1298-A4A6-64EEACA40946}"/>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A6147482-DF00-E2AA-E99C-6332C2A721B6}"/>
              </a:ext>
            </a:extLst>
          </p:cNvPr>
          <p:cNvSpPr txBox="1">
            <a:spLocks noGrp="1"/>
          </p:cNvSpPr>
          <p:nvPr>
            <p:ph type="title"/>
          </p:nvPr>
        </p:nvSpPr>
        <p:spPr>
          <a:xfrm>
            <a:off x="271742" y="613032"/>
            <a:ext cx="11546632" cy="763600"/>
          </a:xfrm>
          <a:prstGeom prst="rect">
            <a:avLst/>
          </a:prstGeom>
        </p:spPr>
        <p:txBody>
          <a:bodyPr spcFirstLastPara="1" vert="horz" wrap="square" lIns="121900" tIns="121900" rIns="121900" bIns="121900" rtlCol="0" anchor="t" anchorCtr="0">
            <a:noAutofit/>
          </a:bodyPr>
          <a:lstStyle/>
          <a:p>
            <a:pPr lvl="0" algn="ctr"/>
            <a:r>
              <a:rPr lang="en-US" sz="4000" b="1" dirty="0">
                <a:latin typeface="Arial" panose="020B0604020202020204" pitchFamily="34" charset="0"/>
                <a:cs typeface="Arial" panose="020B0604020202020204" pitchFamily="34" charset="0"/>
              </a:rPr>
              <a:t>Inference &amp; Intensity Construction</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AD7A10E7-7BDB-48B8-EB1B-8C5814ACB001}"/>
              </a:ext>
            </a:extLst>
          </p:cNvPr>
          <p:cNvSpPr txBox="1"/>
          <p:nvPr/>
        </p:nvSpPr>
        <p:spPr>
          <a:xfrm>
            <a:off x="634380" y="1724722"/>
            <a:ext cx="4876800" cy="5940088"/>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Applying models to the full dataset</a:t>
            </a:r>
            <a:r>
              <a:rPr lang="en-US" sz="2000" b="1"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Entire corpus too large for single-pass inference</a:t>
            </a:r>
          </a:p>
          <a:p>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Split into ~500K-post folds (8 total)</a:t>
            </a:r>
          </a:p>
          <a:p>
            <a:endParaRPr lang="en-IN"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Batch-level inference on each fold</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Result:</a:t>
            </a:r>
          </a:p>
          <a:p>
            <a:endParaRPr lang="en-IN" sz="2000" dirty="0">
              <a:latin typeface="Arial" panose="020B0604020202020204" pitchFamily="34" charset="0"/>
              <a:cs typeface="Arial" panose="020B0604020202020204" pitchFamily="34" charset="0"/>
            </a:endParaRPr>
          </a:p>
          <a:p>
            <a:pPr marL="342900" lvl="0" indent="-342900">
              <a:buFont typeface="Wingdings" panose="05000000000000000000" pitchFamily="2" charset="2"/>
              <a:buChar char="Ø"/>
            </a:pPr>
            <a:r>
              <a:rPr lang="en-IN" sz="2000" dirty="0">
                <a:latin typeface="Arial" panose="020B0604020202020204" pitchFamily="34" charset="0"/>
                <a:cs typeface="Arial" panose="020B0604020202020204" pitchFamily="34" charset="0"/>
              </a:rPr>
              <a:t>Full </a:t>
            </a:r>
            <a:r>
              <a:rPr lang="en-IN" sz="2000" dirty="0" err="1">
                <a:latin typeface="Arial" panose="020B0604020202020204" pitchFamily="34" charset="0"/>
                <a:cs typeface="Arial" panose="020B0604020202020204" pitchFamily="34" charset="0"/>
              </a:rPr>
              <a:t>WallStreetBets</a:t>
            </a:r>
            <a:r>
              <a:rPr lang="en-IN" sz="2000" dirty="0">
                <a:latin typeface="Arial" panose="020B0604020202020204" pitchFamily="34" charset="0"/>
                <a:cs typeface="Arial" panose="020B0604020202020204" pitchFamily="34" charset="0"/>
              </a:rPr>
              <a:t> corpus annotated with:</a:t>
            </a:r>
          </a:p>
          <a:p>
            <a:pPr lvl="1"/>
            <a:r>
              <a:rPr lang="en-IN" sz="2000" dirty="0">
                <a:latin typeface="Arial" panose="020B0604020202020204" pitchFamily="34" charset="0"/>
                <a:cs typeface="Arial" panose="020B0604020202020204" pitchFamily="34" charset="0"/>
              </a:rPr>
              <a:t>- TA label &amp; probability</a:t>
            </a:r>
          </a:p>
          <a:p>
            <a:pPr lvl="1"/>
            <a:r>
              <a:rPr lang="en-IN" sz="2000" dirty="0">
                <a:latin typeface="Arial" panose="020B0604020202020204" pitchFamily="34" charset="0"/>
                <a:cs typeface="Arial" panose="020B0604020202020204" pitchFamily="34" charset="0"/>
              </a:rPr>
              <a:t>- FA label &amp; probability</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6FF4362B-3FEE-CC1C-4019-46E721465925}"/>
              </a:ext>
            </a:extLst>
          </p:cNvPr>
          <p:cNvSpPr txBox="1"/>
          <p:nvPr/>
        </p:nvSpPr>
        <p:spPr>
          <a:xfrm>
            <a:off x="5719336" y="1724722"/>
            <a:ext cx="5283200" cy="5016758"/>
          </a:xfrm>
          <a:prstGeom prst="rect">
            <a:avLst/>
          </a:prstGeom>
          <a:noFill/>
        </p:spPr>
        <p:txBody>
          <a:bodyPr wrap="square" rtlCol="0">
            <a:spAutoFit/>
          </a:bodyPr>
          <a:lstStyle/>
          <a:p>
            <a:r>
              <a:rPr lang="en-IN" sz="2000" b="1" dirty="0"/>
              <a:t>Converted discrete labels into continuous intensity measures</a:t>
            </a:r>
            <a:r>
              <a:rPr lang="en-US" sz="2000" b="1" dirty="0">
                <a:latin typeface="Arial" panose="020B0604020202020204" pitchFamily="34" charset="0"/>
                <a:cs typeface="Arial" panose="020B0604020202020204" pitchFamily="34" charset="0"/>
              </a:rPr>
              <a:t>:</a:t>
            </a:r>
          </a:p>
          <a:p>
            <a:pPr lvl="1"/>
            <a:r>
              <a:rPr lang="en-IN" sz="2000" dirty="0"/>
              <a:t>- Technical Analysis Intensity (TAI)</a:t>
            </a:r>
          </a:p>
          <a:p>
            <a:pPr lvl="1"/>
            <a:r>
              <a:rPr lang="en-IN" sz="2000" dirty="0"/>
              <a:t>- Fundamental Analysis probability</a:t>
            </a:r>
          </a:p>
          <a:p>
            <a:pPr lvl="0"/>
            <a:endParaRPr lang="en-IN" sz="2000" dirty="0"/>
          </a:p>
          <a:p>
            <a:pPr marL="342900" lvl="0" indent="-342900">
              <a:buFont typeface="Wingdings" panose="05000000000000000000" pitchFamily="2" charset="2"/>
              <a:buChar char="Ø"/>
            </a:pPr>
            <a:r>
              <a:rPr lang="en-IN" sz="2000" dirty="0"/>
              <a:t>Enabled:</a:t>
            </a:r>
          </a:p>
          <a:p>
            <a:pPr lvl="1"/>
            <a:r>
              <a:rPr lang="en-IN" sz="2000" dirty="0"/>
              <a:t>- Daily aggregation</a:t>
            </a:r>
          </a:p>
          <a:p>
            <a:pPr lvl="1"/>
            <a:r>
              <a:rPr lang="en-IN" sz="2000" dirty="0"/>
              <a:t>- Rolling-average time-series analysis</a:t>
            </a:r>
          </a:p>
          <a:p>
            <a:pPr lvl="1"/>
            <a:r>
              <a:rPr lang="en-IN" sz="2000" dirty="0"/>
              <a:t>- Investor-type and horizon-based comparisons</a:t>
            </a:r>
          </a:p>
          <a:p>
            <a:pPr lvl="1"/>
            <a:endParaRPr lang="en-IN" sz="2000" dirty="0"/>
          </a:p>
          <a:p>
            <a:pPr marL="342900" lvl="0" indent="-342900">
              <a:buFont typeface="Wingdings" panose="05000000000000000000" pitchFamily="2" charset="2"/>
              <a:buChar char="Ø"/>
            </a:pPr>
            <a:r>
              <a:rPr lang="en-IN" sz="2000" dirty="0"/>
              <a:t>Qualitative validation via word clouds and n-gram analysis confirmed semantic consistency</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pPr marL="380990" indent="-380990">
              <a:buFont typeface="Wingdings" panose="05000000000000000000" pitchFamily="2" charset="2"/>
              <a:buChar char="Ø"/>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4943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388E2C44-522C-0F49-3A8B-56FE3C28B512}"/>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99F15CF9-E85A-D3F7-EC22-A2ED322A2A0D}"/>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it-IT" sz="4000" b="1" dirty="0">
                <a:latin typeface="Arial" panose="020B0604020202020204" pitchFamily="34" charset="0"/>
                <a:cs typeface="Arial" panose="020B0604020202020204" pitchFamily="34" charset="0"/>
              </a:rPr>
              <a:t>Model-Predicted TA &amp; FA Label Distribution</a:t>
            </a:r>
            <a:endParaRPr sz="4000" b="1" dirty="0">
              <a:latin typeface="Arial" panose="020B0604020202020204" pitchFamily="34" charset="0"/>
              <a:cs typeface="Arial" panose="020B0604020202020204" pitchFamily="34" charset="0"/>
            </a:endParaRPr>
          </a:p>
        </p:txBody>
      </p:sp>
      <p:graphicFrame>
        <p:nvGraphicFramePr>
          <p:cNvPr id="8" name="Object 7">
            <a:extLst>
              <a:ext uri="{FF2B5EF4-FFF2-40B4-BE49-F238E27FC236}">
                <a16:creationId xmlns:a16="http://schemas.microsoft.com/office/drawing/2014/main" id="{1C13ED9A-5E6A-D777-B34E-8810FCF7098D}"/>
              </a:ext>
            </a:extLst>
          </p:cNvPr>
          <p:cNvGraphicFramePr>
            <a:graphicFrameLocks noChangeAspect="1"/>
          </p:cNvGraphicFramePr>
          <p:nvPr>
            <p:extLst>
              <p:ext uri="{D42A27DB-BD31-4B8C-83A1-F6EECF244321}">
                <p14:modId xmlns:p14="http://schemas.microsoft.com/office/powerpoint/2010/main" val="3370276786"/>
              </p:ext>
            </p:extLst>
          </p:nvPr>
        </p:nvGraphicFramePr>
        <p:xfrm>
          <a:off x="2457450" y="1935163"/>
          <a:ext cx="7502525" cy="2987675"/>
        </p:xfrm>
        <a:graphic>
          <a:graphicData uri="http://schemas.openxmlformats.org/presentationml/2006/ole">
            <mc:AlternateContent xmlns:mc="http://schemas.openxmlformats.org/markup-compatibility/2006">
              <mc:Choice xmlns:v="urn:schemas-microsoft-com:vml" Requires="v">
                <p:oleObj name="Worksheet" r:id="rId3" imgW="2880573" imgH="738967" progId="Excel.Sheet.12">
                  <p:embed/>
                </p:oleObj>
              </mc:Choice>
              <mc:Fallback>
                <p:oleObj name="Worksheet" r:id="rId3" imgW="2880573" imgH="738967" progId="Excel.Sheet.12">
                  <p:embed/>
                  <p:pic>
                    <p:nvPicPr>
                      <p:cNvPr id="0" name=""/>
                      <p:cNvPicPr/>
                      <p:nvPr/>
                    </p:nvPicPr>
                    <p:blipFill>
                      <a:blip r:embed="rId4"/>
                      <a:stretch>
                        <a:fillRect/>
                      </a:stretch>
                    </p:blipFill>
                    <p:spPr>
                      <a:xfrm>
                        <a:off x="2457450" y="1935163"/>
                        <a:ext cx="7502525" cy="2987675"/>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5DB22322-307B-7DF6-9968-2B96DAC4FDD3}"/>
              </a:ext>
            </a:extLst>
          </p:cNvPr>
          <p:cNvSpPr txBox="1"/>
          <p:nvPr/>
        </p:nvSpPr>
        <p:spPr>
          <a:xfrm>
            <a:off x="1073071" y="5702710"/>
            <a:ext cx="10272000" cy="923330"/>
          </a:xfrm>
          <a:prstGeom prst="rect">
            <a:avLst/>
          </a:prstGeom>
          <a:noFill/>
        </p:spPr>
        <p:txBody>
          <a:bodyPr wrap="square" rtlCol="0">
            <a:spAutoFit/>
          </a:bodyPr>
          <a:lstStyle/>
          <a:p>
            <a:r>
              <a:rPr lang="en-IN" i="1" dirty="0"/>
              <a:t>Labels: 0 = None, 1 = General, 2 = Explicit indicator usage</a:t>
            </a:r>
          </a:p>
          <a:p>
            <a:r>
              <a:rPr lang="en-US" i="1" dirty="0"/>
              <a:t>Explicit fundamental analysis signals are more prevalent than explicit technical analysis signals in the full </a:t>
            </a:r>
            <a:r>
              <a:rPr lang="en-US" i="1" dirty="0" err="1"/>
              <a:t>WallStreetBets</a:t>
            </a:r>
            <a:r>
              <a:rPr lang="en-US" i="1" dirty="0"/>
              <a:t> corpus.</a:t>
            </a:r>
            <a:endParaRPr lang="en-IN" i="1" dirty="0"/>
          </a:p>
        </p:txBody>
      </p:sp>
    </p:spTree>
    <p:extLst>
      <p:ext uri="{BB962C8B-B14F-4D97-AF65-F5344CB8AC3E}">
        <p14:creationId xmlns:p14="http://schemas.microsoft.com/office/powerpoint/2010/main" val="80924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C1BDA4E1-67BF-E3B8-31B5-1848C81479FF}"/>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681FC6FB-8D30-E8BB-D821-02F1A1A2A824}"/>
              </a:ext>
            </a:extLst>
          </p:cNvPr>
          <p:cNvSpPr txBox="1">
            <a:spLocks noGrp="1"/>
          </p:cNvSpPr>
          <p:nvPr>
            <p:ph type="title"/>
          </p:nvPr>
        </p:nvSpPr>
        <p:spPr>
          <a:xfrm>
            <a:off x="707924" y="593367"/>
            <a:ext cx="4739148" cy="1943356"/>
          </a:xfrm>
          <a:prstGeom prst="rect">
            <a:avLst/>
          </a:prstGeom>
        </p:spPr>
        <p:txBody>
          <a:bodyPr spcFirstLastPara="1" vert="horz" wrap="square" lIns="121900" tIns="121900" rIns="121900" bIns="121900" rtlCol="0" anchor="t" anchorCtr="0">
            <a:noAutofit/>
          </a:bodyPr>
          <a:lstStyle/>
          <a:p>
            <a:pPr lvl="0" algn="ctr"/>
            <a:r>
              <a:rPr lang="en-US" sz="3000" b="1" dirty="0">
                <a:latin typeface="Arial" panose="020B0604020202020204" pitchFamily="34" charset="0"/>
                <a:cs typeface="Arial" panose="020B0604020202020204" pitchFamily="34" charset="0"/>
              </a:rPr>
              <a:t>Technical vs Fundamental Analysis: Rule-Based Classification Results</a:t>
            </a:r>
            <a:endParaRPr sz="3000" b="1"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9855893E-FB9E-F67C-9010-BBE906700E56}"/>
              </a:ext>
            </a:extLst>
          </p:cNvPr>
          <p:cNvGraphicFramePr>
            <a:graphicFrameLocks noGrp="1"/>
          </p:cNvGraphicFramePr>
          <p:nvPr>
            <p:extLst>
              <p:ext uri="{D42A27DB-BD31-4B8C-83A1-F6EECF244321}">
                <p14:modId xmlns:p14="http://schemas.microsoft.com/office/powerpoint/2010/main" val="196703981"/>
              </p:ext>
            </p:extLst>
          </p:nvPr>
        </p:nvGraphicFramePr>
        <p:xfrm>
          <a:off x="707924" y="2769802"/>
          <a:ext cx="4739148" cy="2254956"/>
        </p:xfrm>
        <a:graphic>
          <a:graphicData uri="http://schemas.openxmlformats.org/drawingml/2006/table">
            <a:tbl>
              <a:tblPr/>
              <a:tblGrid>
                <a:gridCol w="1836879">
                  <a:extLst>
                    <a:ext uri="{9D8B030D-6E8A-4147-A177-3AD203B41FA5}">
                      <a16:colId xmlns:a16="http://schemas.microsoft.com/office/drawing/2014/main" val="356633724"/>
                    </a:ext>
                  </a:extLst>
                </a:gridCol>
                <a:gridCol w="1212340">
                  <a:extLst>
                    <a:ext uri="{9D8B030D-6E8A-4147-A177-3AD203B41FA5}">
                      <a16:colId xmlns:a16="http://schemas.microsoft.com/office/drawing/2014/main" val="778674717"/>
                    </a:ext>
                  </a:extLst>
                </a:gridCol>
                <a:gridCol w="1689929">
                  <a:extLst>
                    <a:ext uri="{9D8B030D-6E8A-4147-A177-3AD203B41FA5}">
                      <a16:colId xmlns:a16="http://schemas.microsoft.com/office/drawing/2014/main" val="762897975"/>
                    </a:ext>
                  </a:extLst>
                </a:gridCol>
              </a:tblGrid>
              <a:tr h="340172">
                <a:tc>
                  <a:txBody>
                    <a:bodyPr/>
                    <a:lstStyle/>
                    <a:p>
                      <a:pPr algn="ctr" fontAlgn="ctr">
                        <a:buNone/>
                      </a:pPr>
                      <a:r>
                        <a:rPr lang="en-IN" sz="2000" b="1" i="0" u="none" strike="noStrike" dirty="0">
                          <a:solidFill>
                            <a:srgbClr val="000000"/>
                          </a:solidFill>
                          <a:effectLst/>
                          <a:latin typeface="Arial" panose="020B0604020202020204" pitchFamily="34" charset="0"/>
                        </a:rPr>
                        <a:t>Category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dirty="0">
                          <a:solidFill>
                            <a:srgbClr val="000000"/>
                          </a:solidFill>
                          <a:effectLst/>
                          <a:latin typeface="Arial" panose="020B0604020202020204" pitchFamily="34" charset="0"/>
                        </a:rPr>
                        <a:t>No. of Posts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dirty="0">
                          <a:solidFill>
                            <a:srgbClr val="000000"/>
                          </a:solidFill>
                          <a:effectLst/>
                          <a:latin typeface="Arial" panose="020B0604020202020204" pitchFamily="34" charset="0"/>
                        </a:rPr>
                        <a:t>% of Total Posts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1157201"/>
                  </a:ext>
                </a:extLst>
              </a:tr>
              <a:tr h="340172">
                <a:tc>
                  <a:txBody>
                    <a:bodyPr/>
                    <a:lstStyle/>
                    <a:p>
                      <a:pPr algn="l" fontAlgn="ctr">
                        <a:buNone/>
                      </a:pPr>
                      <a:r>
                        <a:rPr lang="en-IN" sz="2000" b="0" i="0" u="none" strike="noStrike" dirty="0">
                          <a:solidFill>
                            <a:srgbClr val="000000"/>
                          </a:solidFill>
                          <a:effectLst/>
                          <a:latin typeface="Arial" panose="020B0604020202020204" pitchFamily="34" charset="0"/>
                        </a:rPr>
                        <a:t>Neither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3.7M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90.60%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6230783"/>
                  </a:ext>
                </a:extLst>
              </a:tr>
              <a:tr h="340172">
                <a:tc>
                  <a:txBody>
                    <a:bodyPr/>
                    <a:lstStyle/>
                    <a:p>
                      <a:pPr algn="l" fontAlgn="ctr">
                        <a:buNone/>
                      </a:pPr>
                      <a:r>
                        <a:rPr lang="en-IN" sz="2000" b="0" i="0" u="none" strike="noStrike">
                          <a:solidFill>
                            <a:srgbClr val="000000"/>
                          </a:solidFill>
                          <a:effectLst/>
                          <a:latin typeface="Arial" panose="020B0604020202020204" pitchFamily="34" charset="0"/>
                        </a:rPr>
                        <a:t>Pure FA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275K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6.61%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5218599"/>
                  </a:ext>
                </a:extLst>
              </a:tr>
              <a:tr h="340172">
                <a:tc>
                  <a:txBody>
                    <a:bodyPr/>
                    <a:lstStyle/>
                    <a:p>
                      <a:pPr algn="l" fontAlgn="ctr">
                        <a:buNone/>
                      </a:pPr>
                      <a:r>
                        <a:rPr lang="en-IN" sz="2000" b="0" i="0" u="none" strike="noStrike">
                          <a:solidFill>
                            <a:srgbClr val="000000"/>
                          </a:solidFill>
                          <a:effectLst/>
                          <a:latin typeface="Arial" panose="020B0604020202020204" pitchFamily="34" charset="0"/>
                        </a:rPr>
                        <a:t>Pure TA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89K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2.14%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1076330"/>
                  </a:ext>
                </a:extLst>
              </a:tr>
              <a:tr h="471007">
                <a:tc>
                  <a:txBody>
                    <a:bodyPr/>
                    <a:lstStyle/>
                    <a:p>
                      <a:pPr algn="l" fontAlgn="ctr">
                        <a:buNone/>
                      </a:pPr>
                      <a:r>
                        <a:rPr lang="en-IN" sz="2000" b="0" i="0" u="none" strike="noStrike">
                          <a:solidFill>
                            <a:srgbClr val="000000"/>
                          </a:solidFill>
                          <a:effectLst/>
                          <a:latin typeface="Arial" panose="020B0604020202020204" pitchFamily="34" charset="0"/>
                        </a:rPr>
                        <a:t>Overlap (TA +FA)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27K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0.65%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2944582"/>
                  </a:ext>
                </a:extLst>
              </a:tr>
            </a:tbl>
          </a:graphicData>
        </a:graphic>
      </p:graphicFrame>
      <p:sp>
        <p:nvSpPr>
          <p:cNvPr id="5" name="Google Shape;1404;p35">
            <a:extLst>
              <a:ext uri="{FF2B5EF4-FFF2-40B4-BE49-F238E27FC236}">
                <a16:creationId xmlns:a16="http://schemas.microsoft.com/office/drawing/2014/main" id="{78B53003-5E05-53E5-0CCC-CE9A0E8D1FDE}"/>
              </a:ext>
            </a:extLst>
          </p:cNvPr>
          <p:cNvSpPr txBox="1">
            <a:spLocks/>
          </p:cNvSpPr>
          <p:nvPr/>
        </p:nvSpPr>
        <p:spPr>
          <a:xfrm>
            <a:off x="6484376" y="593366"/>
            <a:ext cx="4739148" cy="1786039"/>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90000"/>
              </a:lnSpc>
              <a:spcBef>
                <a:spcPts val="0"/>
              </a:spcBef>
              <a:spcAft>
                <a:spcPts val="0"/>
              </a:spcAft>
              <a:buSzPts val="3000"/>
              <a:buNone/>
              <a:defRPr sz="4400" kern="1200">
                <a:solidFill>
                  <a:schemeClr val="tx1"/>
                </a:solidFill>
                <a:latin typeface="+mj-lt"/>
                <a:ea typeface="+mj-ea"/>
                <a:cs typeface="+mj-c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pPr algn="ctr"/>
            <a:r>
              <a:rPr lang="en-US" sz="3000" b="1" dirty="0">
                <a:latin typeface="Arial" panose="020B0604020202020204" pitchFamily="34" charset="0"/>
                <a:cs typeface="Arial" panose="020B0604020202020204" pitchFamily="34" charset="0"/>
              </a:rPr>
              <a:t>Technical vs Fundamental Analysis: BERT-Based Classification Results</a:t>
            </a:r>
          </a:p>
        </p:txBody>
      </p:sp>
      <p:graphicFrame>
        <p:nvGraphicFramePr>
          <p:cNvPr id="6" name="Table 5">
            <a:extLst>
              <a:ext uri="{FF2B5EF4-FFF2-40B4-BE49-F238E27FC236}">
                <a16:creationId xmlns:a16="http://schemas.microsoft.com/office/drawing/2014/main" id="{3793FC41-81A1-0DD3-D347-30D7877EC37A}"/>
              </a:ext>
            </a:extLst>
          </p:cNvPr>
          <p:cNvGraphicFramePr>
            <a:graphicFrameLocks noGrp="1"/>
          </p:cNvGraphicFramePr>
          <p:nvPr>
            <p:extLst>
              <p:ext uri="{D42A27DB-BD31-4B8C-83A1-F6EECF244321}">
                <p14:modId xmlns:p14="http://schemas.microsoft.com/office/powerpoint/2010/main" val="2011786727"/>
              </p:ext>
            </p:extLst>
          </p:nvPr>
        </p:nvGraphicFramePr>
        <p:xfrm>
          <a:off x="6419851" y="2769802"/>
          <a:ext cx="4868198" cy="2292410"/>
        </p:xfrm>
        <a:graphic>
          <a:graphicData uri="http://schemas.openxmlformats.org/drawingml/2006/table">
            <a:tbl>
              <a:tblPr/>
              <a:tblGrid>
                <a:gridCol w="1886898">
                  <a:extLst>
                    <a:ext uri="{9D8B030D-6E8A-4147-A177-3AD203B41FA5}">
                      <a16:colId xmlns:a16="http://schemas.microsoft.com/office/drawing/2014/main" val="3999092741"/>
                    </a:ext>
                  </a:extLst>
                </a:gridCol>
                <a:gridCol w="1245353">
                  <a:extLst>
                    <a:ext uri="{9D8B030D-6E8A-4147-A177-3AD203B41FA5}">
                      <a16:colId xmlns:a16="http://schemas.microsoft.com/office/drawing/2014/main" val="1055719043"/>
                    </a:ext>
                  </a:extLst>
                </a:gridCol>
                <a:gridCol w="1735947">
                  <a:extLst>
                    <a:ext uri="{9D8B030D-6E8A-4147-A177-3AD203B41FA5}">
                      <a16:colId xmlns:a16="http://schemas.microsoft.com/office/drawing/2014/main" val="1421898873"/>
                    </a:ext>
                  </a:extLst>
                </a:gridCol>
              </a:tblGrid>
              <a:tr h="601890">
                <a:tc>
                  <a:txBody>
                    <a:bodyPr/>
                    <a:lstStyle/>
                    <a:p>
                      <a:pPr algn="ctr" fontAlgn="ctr">
                        <a:buNone/>
                      </a:pPr>
                      <a:r>
                        <a:rPr lang="en-IN" sz="2000" b="1" i="0" u="none" strike="noStrike" dirty="0">
                          <a:solidFill>
                            <a:srgbClr val="000000"/>
                          </a:solidFill>
                          <a:effectLst/>
                          <a:latin typeface="Arial" panose="020B0604020202020204" pitchFamily="34" charset="0"/>
                        </a:rPr>
                        <a:t>Category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dirty="0">
                          <a:solidFill>
                            <a:srgbClr val="000000"/>
                          </a:solidFill>
                          <a:effectLst/>
                          <a:latin typeface="Arial" panose="020B0604020202020204" pitchFamily="34" charset="0"/>
                        </a:rPr>
                        <a:t>No. of Posts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dirty="0">
                          <a:solidFill>
                            <a:srgbClr val="000000"/>
                          </a:solidFill>
                          <a:effectLst/>
                          <a:latin typeface="Arial" panose="020B0604020202020204" pitchFamily="34" charset="0"/>
                        </a:rPr>
                        <a:t>% of Total Posts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1915549"/>
                  </a:ext>
                </a:extLst>
              </a:tr>
              <a:tr h="336680">
                <a:tc>
                  <a:txBody>
                    <a:bodyPr/>
                    <a:lstStyle/>
                    <a:p>
                      <a:pPr algn="l" fontAlgn="ctr">
                        <a:buNone/>
                      </a:pPr>
                      <a:r>
                        <a:rPr lang="en-IN" sz="2000" b="0" i="0" u="none" strike="noStrike" dirty="0">
                          <a:solidFill>
                            <a:srgbClr val="000000"/>
                          </a:solidFill>
                          <a:effectLst/>
                          <a:latin typeface="Arial" panose="020B0604020202020204" pitchFamily="34" charset="0"/>
                        </a:rPr>
                        <a:t>Neither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3.6M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88.66%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0653455"/>
                  </a:ext>
                </a:extLst>
              </a:tr>
              <a:tr h="336680">
                <a:tc>
                  <a:txBody>
                    <a:bodyPr/>
                    <a:lstStyle/>
                    <a:p>
                      <a:pPr algn="l" fontAlgn="ctr">
                        <a:buNone/>
                      </a:pPr>
                      <a:r>
                        <a:rPr lang="en-IN" sz="2000" b="0" i="0" u="none" strike="noStrike">
                          <a:solidFill>
                            <a:srgbClr val="000000"/>
                          </a:solidFill>
                          <a:effectLst/>
                          <a:latin typeface="Arial" panose="020B0604020202020204" pitchFamily="34" charset="0"/>
                        </a:rPr>
                        <a:t>Pure FA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279K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6.72%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0602504"/>
                  </a:ext>
                </a:extLst>
              </a:tr>
              <a:tr h="336680">
                <a:tc>
                  <a:txBody>
                    <a:bodyPr/>
                    <a:lstStyle/>
                    <a:p>
                      <a:pPr algn="l" fontAlgn="ctr">
                        <a:buNone/>
                      </a:pPr>
                      <a:r>
                        <a:rPr lang="en-IN" sz="2000" b="0" i="0" u="none" strike="noStrike">
                          <a:solidFill>
                            <a:srgbClr val="000000"/>
                          </a:solidFill>
                          <a:effectLst/>
                          <a:latin typeface="Arial" panose="020B0604020202020204" pitchFamily="34" charset="0"/>
                        </a:rPr>
                        <a:t>Pure TA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136K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3.27%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0897493"/>
                  </a:ext>
                </a:extLst>
              </a:tr>
              <a:tr h="665150">
                <a:tc>
                  <a:txBody>
                    <a:bodyPr/>
                    <a:lstStyle/>
                    <a:p>
                      <a:pPr algn="l" fontAlgn="ctr">
                        <a:buNone/>
                      </a:pPr>
                      <a:r>
                        <a:rPr lang="en-IN" sz="2000" b="0" i="0" u="none" strike="noStrike">
                          <a:solidFill>
                            <a:srgbClr val="000000"/>
                          </a:solidFill>
                          <a:effectLst/>
                          <a:latin typeface="Arial" panose="020B0604020202020204" pitchFamily="34" charset="0"/>
                        </a:rPr>
                        <a:t>Overlap (TA +FA)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55K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1.35%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3560793"/>
                  </a:ext>
                </a:extLst>
              </a:tr>
            </a:tbl>
          </a:graphicData>
        </a:graphic>
      </p:graphicFrame>
    </p:spTree>
    <p:extLst>
      <p:ext uri="{BB962C8B-B14F-4D97-AF65-F5344CB8AC3E}">
        <p14:creationId xmlns:p14="http://schemas.microsoft.com/office/powerpoint/2010/main" val="2512924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10FC9E0F-6012-480A-D00C-B7DB186CF0E6}"/>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36DF98B4-F4A7-AB1A-D864-8EF3C8F5F634}"/>
              </a:ext>
            </a:extLst>
          </p:cNvPr>
          <p:cNvSpPr txBox="1">
            <a:spLocks noGrp="1"/>
          </p:cNvSpPr>
          <p:nvPr>
            <p:ph type="title"/>
          </p:nvPr>
        </p:nvSpPr>
        <p:spPr>
          <a:xfrm>
            <a:off x="707923" y="593367"/>
            <a:ext cx="10540179" cy="704491"/>
          </a:xfrm>
          <a:prstGeom prst="rect">
            <a:avLst/>
          </a:prstGeom>
        </p:spPr>
        <p:txBody>
          <a:bodyPr spcFirstLastPara="1" vert="horz" wrap="square" lIns="121900" tIns="121900" rIns="121900" bIns="121900" rtlCol="0" anchor="t" anchorCtr="0">
            <a:noAutofit/>
          </a:bodyPr>
          <a:lstStyle/>
          <a:p>
            <a:pPr lvl="0" algn="ctr"/>
            <a:r>
              <a:rPr lang="en-US" sz="3000" b="1" dirty="0">
                <a:latin typeface="Arial" panose="020B0604020202020204" pitchFamily="34" charset="0"/>
                <a:cs typeface="Arial" panose="020B0604020202020204" pitchFamily="34" charset="0"/>
              </a:rPr>
              <a:t>Rule-Based vs BERT: Technical Analysis Classification</a:t>
            </a:r>
            <a:endParaRPr sz="3000" b="1"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C39751D7-6029-30AA-375B-A998C89A6ECE}"/>
              </a:ext>
            </a:extLst>
          </p:cNvPr>
          <p:cNvGraphicFramePr>
            <a:graphicFrameLocks noGrp="1"/>
          </p:cNvGraphicFramePr>
          <p:nvPr>
            <p:extLst>
              <p:ext uri="{D42A27DB-BD31-4B8C-83A1-F6EECF244321}">
                <p14:modId xmlns:p14="http://schemas.microsoft.com/office/powerpoint/2010/main" val="2505582449"/>
              </p:ext>
            </p:extLst>
          </p:nvPr>
        </p:nvGraphicFramePr>
        <p:xfrm>
          <a:off x="1465006" y="1297858"/>
          <a:ext cx="8790038" cy="1801077"/>
        </p:xfrm>
        <a:graphic>
          <a:graphicData uri="http://schemas.openxmlformats.org/drawingml/2006/table">
            <a:tbl>
              <a:tblPr/>
              <a:tblGrid>
                <a:gridCol w="1004576">
                  <a:extLst>
                    <a:ext uri="{9D8B030D-6E8A-4147-A177-3AD203B41FA5}">
                      <a16:colId xmlns:a16="http://schemas.microsoft.com/office/drawing/2014/main" val="4132304062"/>
                    </a:ext>
                  </a:extLst>
                </a:gridCol>
                <a:gridCol w="2092866">
                  <a:extLst>
                    <a:ext uri="{9D8B030D-6E8A-4147-A177-3AD203B41FA5}">
                      <a16:colId xmlns:a16="http://schemas.microsoft.com/office/drawing/2014/main" val="2535758935"/>
                    </a:ext>
                  </a:extLst>
                </a:gridCol>
                <a:gridCol w="1967294">
                  <a:extLst>
                    <a:ext uri="{9D8B030D-6E8A-4147-A177-3AD203B41FA5}">
                      <a16:colId xmlns:a16="http://schemas.microsoft.com/office/drawing/2014/main" val="3434669308"/>
                    </a:ext>
                  </a:extLst>
                </a:gridCol>
                <a:gridCol w="1925437">
                  <a:extLst>
                    <a:ext uri="{9D8B030D-6E8A-4147-A177-3AD203B41FA5}">
                      <a16:colId xmlns:a16="http://schemas.microsoft.com/office/drawing/2014/main" val="1232850332"/>
                    </a:ext>
                  </a:extLst>
                </a:gridCol>
                <a:gridCol w="1799865">
                  <a:extLst>
                    <a:ext uri="{9D8B030D-6E8A-4147-A177-3AD203B41FA5}">
                      <a16:colId xmlns:a16="http://schemas.microsoft.com/office/drawing/2014/main" val="3404693052"/>
                    </a:ext>
                  </a:extLst>
                </a:gridCol>
              </a:tblGrid>
              <a:tr h="863817">
                <a:tc>
                  <a:txBody>
                    <a:bodyPr/>
                    <a:lstStyle/>
                    <a:p>
                      <a:pPr algn="ctr" fontAlgn="ctr">
                        <a:buNone/>
                      </a:pPr>
                      <a:r>
                        <a:rPr lang="en-IN" sz="2000" b="1" i="0" u="none" strike="noStrike" dirty="0">
                          <a:solidFill>
                            <a:srgbClr val="000000"/>
                          </a:solidFill>
                          <a:effectLst/>
                          <a:latin typeface="Arial" panose="020B0604020202020204" pitchFamily="34" charset="0"/>
                        </a:rPr>
                        <a:t>TA Label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dirty="0">
                          <a:solidFill>
                            <a:srgbClr val="000000"/>
                          </a:solidFill>
                          <a:effectLst/>
                          <a:latin typeface="Arial" panose="020B0604020202020204" pitchFamily="34" charset="0"/>
                        </a:rPr>
                        <a:t>Total Rule-Based Posts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dirty="0">
                          <a:solidFill>
                            <a:srgbClr val="000000"/>
                          </a:solidFill>
                          <a:effectLst/>
                          <a:latin typeface="Arial" panose="020B0604020202020204" pitchFamily="34" charset="0"/>
                        </a:rPr>
                        <a:t>Same Label (BERT)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dirty="0">
                          <a:solidFill>
                            <a:srgbClr val="000000"/>
                          </a:solidFill>
                          <a:effectLst/>
                          <a:latin typeface="Arial" panose="020B0604020202020204" pitchFamily="34" charset="0"/>
                        </a:rPr>
                        <a:t>Different Label (BERT)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dirty="0">
                          <a:solidFill>
                            <a:srgbClr val="000000"/>
                          </a:solidFill>
                          <a:effectLst/>
                          <a:latin typeface="Arial" panose="020B0604020202020204" pitchFamily="34" charset="0"/>
                        </a:rPr>
                        <a:t>Agreement Rate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774643"/>
                  </a:ext>
                </a:extLst>
              </a:tr>
              <a:tr h="276864">
                <a:tc>
                  <a:txBody>
                    <a:bodyPr/>
                    <a:lstStyle/>
                    <a:p>
                      <a:pPr algn="ctr" fontAlgn="ctr">
                        <a:buNone/>
                      </a:pPr>
                      <a:r>
                        <a:rPr lang="en-IN" sz="2000" b="0" i="0" u="none" strike="noStrike">
                          <a:solidFill>
                            <a:srgbClr val="000000"/>
                          </a:solidFill>
                          <a:effectLst/>
                          <a:latin typeface="Arial" panose="020B0604020202020204" pitchFamily="34" charset="0"/>
                        </a:rPr>
                        <a:t>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4.0M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3.9M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139K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96.55%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7145719"/>
                  </a:ext>
                </a:extLst>
              </a:tr>
              <a:tr h="276864">
                <a:tc>
                  <a:txBody>
                    <a:bodyPr/>
                    <a:lstStyle/>
                    <a:p>
                      <a:pPr algn="ctr" fontAlgn="ctr">
                        <a:buNone/>
                      </a:pPr>
                      <a:r>
                        <a:rPr lang="en-IN" sz="2000" b="0" i="0" u="none" strike="noStrike">
                          <a:solidFill>
                            <a:srgbClr val="000000"/>
                          </a:solidFill>
                          <a:effectLst/>
                          <a:latin typeface="Arial" panose="020B060402020202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48K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14K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33K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31.07%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2301397"/>
                  </a:ext>
                </a:extLst>
              </a:tr>
              <a:tr h="276864">
                <a:tc>
                  <a:txBody>
                    <a:bodyPr/>
                    <a:lstStyle/>
                    <a:p>
                      <a:pPr algn="ctr" fontAlgn="ctr">
                        <a:buNone/>
                      </a:pPr>
                      <a:r>
                        <a:rPr lang="en-IN" sz="2000" b="0" i="0" u="none" strike="noStrike">
                          <a:solidFill>
                            <a:srgbClr val="000000"/>
                          </a:solidFill>
                          <a:effectLst/>
                          <a:latin typeface="Arial" panose="020B060402020202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68K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26K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41K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39.18%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8425443"/>
                  </a:ext>
                </a:extLst>
              </a:tr>
            </a:tbl>
          </a:graphicData>
        </a:graphic>
      </p:graphicFrame>
      <p:sp>
        <p:nvSpPr>
          <p:cNvPr id="7" name="Google Shape;1404;p35">
            <a:extLst>
              <a:ext uri="{FF2B5EF4-FFF2-40B4-BE49-F238E27FC236}">
                <a16:creationId xmlns:a16="http://schemas.microsoft.com/office/drawing/2014/main" id="{C54F77A7-97E9-B2CD-6B82-BAB6A24F8228}"/>
              </a:ext>
            </a:extLst>
          </p:cNvPr>
          <p:cNvSpPr txBox="1">
            <a:spLocks/>
          </p:cNvSpPr>
          <p:nvPr/>
        </p:nvSpPr>
        <p:spPr>
          <a:xfrm>
            <a:off x="707923" y="3311987"/>
            <a:ext cx="10540179" cy="1112529"/>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90000"/>
              </a:lnSpc>
              <a:spcBef>
                <a:spcPts val="0"/>
              </a:spcBef>
              <a:spcAft>
                <a:spcPts val="0"/>
              </a:spcAft>
              <a:buSzPts val="3000"/>
              <a:buNone/>
              <a:defRPr sz="4400" kern="1200">
                <a:solidFill>
                  <a:schemeClr val="tx1"/>
                </a:solidFill>
                <a:latin typeface="+mj-lt"/>
                <a:ea typeface="+mj-ea"/>
                <a:cs typeface="+mj-c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pPr algn="ctr"/>
            <a:r>
              <a:rPr lang="en-US" sz="3000" b="1" dirty="0">
                <a:latin typeface="Arial" panose="020B0604020202020204" pitchFamily="34" charset="0"/>
                <a:cs typeface="Arial" panose="020B0604020202020204" pitchFamily="34" charset="0"/>
              </a:rPr>
              <a:t>Rule-Based vs BERT: Fundamental Analysis Classification</a:t>
            </a:r>
          </a:p>
        </p:txBody>
      </p:sp>
      <p:graphicFrame>
        <p:nvGraphicFramePr>
          <p:cNvPr id="9" name="Table 8">
            <a:extLst>
              <a:ext uri="{FF2B5EF4-FFF2-40B4-BE49-F238E27FC236}">
                <a16:creationId xmlns:a16="http://schemas.microsoft.com/office/drawing/2014/main" id="{2BB58598-515B-CCA2-F6B0-36B4DC47AC84}"/>
              </a:ext>
            </a:extLst>
          </p:cNvPr>
          <p:cNvGraphicFramePr>
            <a:graphicFrameLocks noGrp="1"/>
          </p:cNvGraphicFramePr>
          <p:nvPr>
            <p:extLst>
              <p:ext uri="{D42A27DB-BD31-4B8C-83A1-F6EECF244321}">
                <p14:modId xmlns:p14="http://schemas.microsoft.com/office/powerpoint/2010/main" val="1800270450"/>
              </p:ext>
            </p:extLst>
          </p:nvPr>
        </p:nvGraphicFramePr>
        <p:xfrm>
          <a:off x="1465006" y="4424515"/>
          <a:ext cx="8790038" cy="1840116"/>
        </p:xfrm>
        <a:graphic>
          <a:graphicData uri="http://schemas.openxmlformats.org/drawingml/2006/table">
            <a:tbl>
              <a:tblPr/>
              <a:tblGrid>
                <a:gridCol w="1004576">
                  <a:extLst>
                    <a:ext uri="{9D8B030D-6E8A-4147-A177-3AD203B41FA5}">
                      <a16:colId xmlns:a16="http://schemas.microsoft.com/office/drawing/2014/main" val="3743608772"/>
                    </a:ext>
                  </a:extLst>
                </a:gridCol>
                <a:gridCol w="2092866">
                  <a:extLst>
                    <a:ext uri="{9D8B030D-6E8A-4147-A177-3AD203B41FA5}">
                      <a16:colId xmlns:a16="http://schemas.microsoft.com/office/drawing/2014/main" val="4233326417"/>
                    </a:ext>
                  </a:extLst>
                </a:gridCol>
                <a:gridCol w="1967294">
                  <a:extLst>
                    <a:ext uri="{9D8B030D-6E8A-4147-A177-3AD203B41FA5}">
                      <a16:colId xmlns:a16="http://schemas.microsoft.com/office/drawing/2014/main" val="1065463176"/>
                    </a:ext>
                  </a:extLst>
                </a:gridCol>
                <a:gridCol w="1925437">
                  <a:extLst>
                    <a:ext uri="{9D8B030D-6E8A-4147-A177-3AD203B41FA5}">
                      <a16:colId xmlns:a16="http://schemas.microsoft.com/office/drawing/2014/main" val="2500341079"/>
                    </a:ext>
                  </a:extLst>
                </a:gridCol>
                <a:gridCol w="1799865">
                  <a:extLst>
                    <a:ext uri="{9D8B030D-6E8A-4147-A177-3AD203B41FA5}">
                      <a16:colId xmlns:a16="http://schemas.microsoft.com/office/drawing/2014/main" val="749311492"/>
                    </a:ext>
                  </a:extLst>
                </a:gridCol>
              </a:tblGrid>
              <a:tr h="753435">
                <a:tc>
                  <a:txBody>
                    <a:bodyPr/>
                    <a:lstStyle/>
                    <a:p>
                      <a:pPr algn="ctr" fontAlgn="ctr">
                        <a:buNone/>
                      </a:pPr>
                      <a:r>
                        <a:rPr lang="en-IN" sz="2000" b="1" i="0" u="none" strike="noStrike" dirty="0">
                          <a:solidFill>
                            <a:srgbClr val="000000"/>
                          </a:solidFill>
                          <a:effectLst/>
                          <a:latin typeface="Arial" panose="020B0604020202020204" pitchFamily="34" charset="0"/>
                        </a:rPr>
                        <a:t>TA Label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dirty="0">
                          <a:solidFill>
                            <a:srgbClr val="000000"/>
                          </a:solidFill>
                          <a:effectLst/>
                          <a:latin typeface="Arial" panose="020B0604020202020204" pitchFamily="34" charset="0"/>
                        </a:rPr>
                        <a:t>Total Rule-Based Posts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a:solidFill>
                            <a:srgbClr val="000000"/>
                          </a:solidFill>
                          <a:effectLst/>
                          <a:latin typeface="Arial" panose="020B0604020202020204" pitchFamily="34" charset="0"/>
                        </a:rPr>
                        <a:t>Same Label (BERT)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a:solidFill>
                            <a:srgbClr val="000000"/>
                          </a:solidFill>
                          <a:effectLst/>
                          <a:latin typeface="Arial" panose="020B0604020202020204" pitchFamily="34" charset="0"/>
                        </a:rPr>
                        <a:t>Different Label (BERT)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000" b="1" i="0" u="none" strike="noStrike">
                          <a:solidFill>
                            <a:srgbClr val="000000"/>
                          </a:solidFill>
                          <a:effectLst/>
                          <a:latin typeface="Arial" panose="020B0604020202020204" pitchFamily="34" charset="0"/>
                        </a:rPr>
                        <a:t>Agreement Rate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8540007"/>
                  </a:ext>
                </a:extLst>
              </a:tr>
              <a:tr h="362227">
                <a:tc>
                  <a:txBody>
                    <a:bodyPr/>
                    <a:lstStyle/>
                    <a:p>
                      <a:pPr algn="ctr" fontAlgn="ctr">
                        <a:buNone/>
                      </a:pPr>
                      <a:r>
                        <a:rPr lang="en-IN" sz="2000" b="0" i="0" u="none" strike="noStrike">
                          <a:solidFill>
                            <a:srgbClr val="000000"/>
                          </a:solidFill>
                          <a:effectLst/>
                          <a:latin typeface="Arial" panose="020B0604020202020204" pitchFamily="34" charset="0"/>
                        </a:rPr>
                        <a:t>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3.8M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3.7M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139K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96.38%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4850683"/>
                  </a:ext>
                </a:extLst>
              </a:tr>
              <a:tr h="362227">
                <a:tc>
                  <a:txBody>
                    <a:bodyPr/>
                    <a:lstStyle/>
                    <a:p>
                      <a:pPr algn="ctr" fontAlgn="ctr">
                        <a:buNone/>
                      </a:pPr>
                      <a:r>
                        <a:rPr lang="en-IN" sz="2000" b="0" i="0" u="none" strike="noStrike">
                          <a:solidFill>
                            <a:srgbClr val="000000"/>
                          </a:solidFill>
                          <a:effectLst/>
                          <a:latin typeface="Arial" panose="020B060402020202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68K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10K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57K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15.45%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8272475"/>
                  </a:ext>
                </a:extLst>
              </a:tr>
              <a:tr h="362227">
                <a:tc>
                  <a:txBody>
                    <a:bodyPr/>
                    <a:lstStyle/>
                    <a:p>
                      <a:pPr algn="ctr" fontAlgn="ctr">
                        <a:buNone/>
                      </a:pPr>
                      <a:r>
                        <a:rPr lang="en-IN" sz="2000" b="0" i="0" u="none" strike="noStrike">
                          <a:solidFill>
                            <a:srgbClr val="000000"/>
                          </a:solidFill>
                          <a:effectLst/>
                          <a:latin typeface="Arial" panose="020B060402020202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234K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a:solidFill>
                            <a:srgbClr val="000000"/>
                          </a:solidFill>
                          <a:effectLst/>
                          <a:latin typeface="Arial" panose="020B0604020202020204" pitchFamily="34" charset="0"/>
                        </a:rPr>
                        <a:t>172K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62K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2000" b="0" i="0" u="none" strike="noStrike" dirty="0">
                          <a:solidFill>
                            <a:srgbClr val="000000"/>
                          </a:solidFill>
                          <a:effectLst/>
                          <a:latin typeface="Arial" panose="020B0604020202020204" pitchFamily="34" charset="0"/>
                        </a:rPr>
                        <a:t>73.39%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9671970"/>
                  </a:ext>
                </a:extLst>
              </a:tr>
            </a:tbl>
          </a:graphicData>
        </a:graphic>
      </p:graphicFrame>
    </p:spTree>
    <p:extLst>
      <p:ext uri="{BB962C8B-B14F-4D97-AF65-F5344CB8AC3E}">
        <p14:creationId xmlns:p14="http://schemas.microsoft.com/office/powerpoint/2010/main" val="3368401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1403">
          <a:extLst>
            <a:ext uri="{FF2B5EF4-FFF2-40B4-BE49-F238E27FC236}">
              <a16:creationId xmlns:a16="http://schemas.microsoft.com/office/drawing/2014/main" id="{F7FBCF41-1BB2-0732-D5C3-E33C389C8A4E}"/>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6AF47AE8-4F4E-2397-A499-68BAEBD650E8}"/>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pPr lvl="0" algn="ctr"/>
            <a:r>
              <a:rPr lang="it-IT" sz="4000" b="1" dirty="0">
                <a:latin typeface="Arial" panose="020B0604020202020204" pitchFamily="34" charset="0"/>
                <a:cs typeface="Arial" panose="020B0604020202020204" pitchFamily="34" charset="0"/>
              </a:rPr>
              <a:t>Sources of Fundamental Indicators for Rule-Based Regex Pattern</a:t>
            </a:r>
            <a:endParaRPr sz="4000"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7DD605E1-5C35-90E2-D6D2-57CAB4EF2F65}"/>
              </a:ext>
            </a:extLst>
          </p:cNvPr>
          <p:cNvSpPr txBox="1"/>
          <p:nvPr/>
        </p:nvSpPr>
        <p:spPr>
          <a:xfrm>
            <a:off x="960000" y="2202426"/>
            <a:ext cx="10602735" cy="2862322"/>
          </a:xfrm>
          <a:prstGeom prst="rect">
            <a:avLst/>
          </a:prstGeom>
          <a:noFill/>
        </p:spPr>
        <p:txBody>
          <a:bodyPr wrap="square" rtlCol="0">
            <a:spAutoFit/>
          </a:bodyPr>
          <a:lstStyle/>
          <a:p>
            <a:pPr marL="342900" indent="-342900">
              <a:buAutoNum type="arabicPeriod"/>
            </a:pPr>
            <a:r>
              <a:rPr lang="en-US" dirty="0">
                <a:hlinkClick r:id="rId3"/>
              </a:rPr>
              <a:t>https://corporatefinanceinstitute.com/resources/accounting/profitability-ratios/</a:t>
            </a:r>
            <a:endParaRPr lang="en-US" dirty="0"/>
          </a:p>
          <a:p>
            <a:pPr marL="342900" indent="-342900">
              <a:buAutoNum type="arabicPeriod"/>
            </a:pPr>
            <a:r>
              <a:rPr lang="en-IN" dirty="0">
                <a:hlinkClick r:id="rId4"/>
              </a:rPr>
              <a:t>https://www.investopedia.com/terms/r/returnonequity.asp</a:t>
            </a:r>
            <a:endParaRPr lang="en-IN" dirty="0"/>
          </a:p>
          <a:p>
            <a:pPr marL="342900" indent="-342900">
              <a:buAutoNum type="arabicPeriod"/>
            </a:pPr>
            <a:r>
              <a:rPr lang="en-IN" dirty="0">
                <a:hlinkClick r:id="rId5"/>
              </a:rPr>
              <a:t>https://corporatefinanceinstitute.com/resources/accounting/statement-of-cash-flows/</a:t>
            </a:r>
            <a:endParaRPr lang="en-IN" dirty="0"/>
          </a:p>
          <a:p>
            <a:pPr marL="342900" indent="-342900">
              <a:buAutoNum type="arabicPeriod"/>
            </a:pPr>
            <a:r>
              <a:rPr lang="en-IN" dirty="0">
                <a:hlinkClick r:id="rId6"/>
              </a:rPr>
              <a:t>https://www.investopedia.com/terms/g/guidance.asp</a:t>
            </a:r>
            <a:endParaRPr lang="en-IN" dirty="0"/>
          </a:p>
          <a:p>
            <a:pPr marL="342900" indent="-342900">
              <a:buAutoNum type="arabicPeriod"/>
            </a:pPr>
            <a:r>
              <a:rPr lang="en-IN" dirty="0">
                <a:hlinkClick r:id="rId7"/>
              </a:rPr>
              <a:t>https://www.investopedia.com/terms/d/dividend.asp</a:t>
            </a:r>
            <a:endParaRPr lang="en-IN" dirty="0"/>
          </a:p>
          <a:p>
            <a:pPr marL="342900" indent="-342900">
              <a:buAutoNum type="arabicPeriod"/>
            </a:pPr>
            <a:r>
              <a:rPr lang="en-IN" dirty="0">
                <a:hlinkClick r:id="rId8"/>
              </a:rPr>
              <a:t>https://365financialanalyst.com/knowledge-hub/financial-analysis/valuation-ratios/</a:t>
            </a:r>
            <a:endParaRPr lang="en-IN" dirty="0"/>
          </a:p>
          <a:p>
            <a:pPr marL="342900" indent="-342900">
              <a:buAutoNum type="arabicPeriod"/>
            </a:pPr>
            <a:r>
              <a:rPr lang="en-IN" dirty="0">
                <a:hlinkClick r:id="rId9"/>
              </a:rPr>
              <a:t>https://www.investopedia.com/terms/f/fundamentalanalysis.asp</a:t>
            </a:r>
            <a:endParaRPr lang="en-IN" dirty="0"/>
          </a:p>
          <a:p>
            <a:pPr marL="342900" indent="-342900">
              <a:buAutoNum type="arabicPeriod"/>
            </a:pPr>
            <a:r>
              <a:rPr lang="en-IN" dirty="0">
                <a:hlinkClick r:id="rId10"/>
              </a:rPr>
              <a:t>https://finzer.io/en/blog/what-fundamental-analysis-types-indicators-examples</a:t>
            </a:r>
            <a:endParaRPr lang="en-IN" dirty="0"/>
          </a:p>
          <a:p>
            <a:pPr marL="342900" indent="-342900">
              <a:buAutoNum type="arabicPeriod"/>
            </a:pPr>
            <a:endParaRPr lang="en-IN" dirty="0"/>
          </a:p>
          <a:p>
            <a:pPr marL="342900" indent="-342900">
              <a:buAutoNum type="arabicPeriod"/>
            </a:pPr>
            <a:endParaRPr lang="en-IN" dirty="0"/>
          </a:p>
        </p:txBody>
      </p:sp>
    </p:spTree>
    <p:extLst>
      <p:ext uri="{BB962C8B-B14F-4D97-AF65-F5344CB8AC3E}">
        <p14:creationId xmlns:p14="http://schemas.microsoft.com/office/powerpoint/2010/main" val="2888873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03">
          <a:extLst>
            <a:ext uri="{FF2B5EF4-FFF2-40B4-BE49-F238E27FC236}">
              <a16:creationId xmlns:a16="http://schemas.microsoft.com/office/drawing/2014/main" id="{C1028EB1-E314-0703-A13F-D625FB03E85B}"/>
            </a:ext>
          </a:extLst>
        </p:cNvPr>
        <p:cNvGrpSpPr/>
        <p:nvPr/>
      </p:nvGrpSpPr>
      <p:grpSpPr>
        <a:xfrm>
          <a:off x="0" y="0"/>
          <a:ext cx="0" cy="0"/>
          <a:chOff x="0" y="0"/>
          <a:chExt cx="0" cy="0"/>
        </a:xfrm>
      </p:grpSpPr>
      <p:sp>
        <p:nvSpPr>
          <p:cNvPr id="1404" name="Google Shape;1404;p35">
            <a:extLst>
              <a:ext uri="{FF2B5EF4-FFF2-40B4-BE49-F238E27FC236}">
                <a16:creationId xmlns:a16="http://schemas.microsoft.com/office/drawing/2014/main" id="{40935EA2-4A28-7D7C-0FD6-6B0F4A7CF51F}"/>
              </a:ext>
            </a:extLst>
          </p:cNvPr>
          <p:cNvSpPr txBox="1">
            <a:spLocks noGrp="1"/>
          </p:cNvSpPr>
          <p:nvPr>
            <p:ph type="title"/>
          </p:nvPr>
        </p:nvSpPr>
        <p:spPr>
          <a:xfrm>
            <a:off x="271742" y="613032"/>
            <a:ext cx="11546632" cy="763600"/>
          </a:xfrm>
          <a:prstGeom prst="rect">
            <a:avLst/>
          </a:prstGeom>
        </p:spPr>
        <p:txBody>
          <a:bodyPr spcFirstLastPara="1" vert="horz" wrap="square" lIns="121900" tIns="121900" rIns="121900" bIns="121900" rtlCol="0" anchor="t" anchorCtr="0">
            <a:noAutofit/>
          </a:bodyPr>
          <a:lstStyle/>
          <a:p>
            <a:pPr lvl="0" algn="ctr"/>
            <a:r>
              <a:rPr lang="en-US" sz="4000" b="1" dirty="0">
                <a:latin typeface="Arial" panose="020B0604020202020204" pitchFamily="34" charset="0"/>
                <a:cs typeface="Arial" panose="020B0604020202020204" pitchFamily="34" charset="0"/>
              </a:rPr>
              <a:t>Ticker Extraction Attempt (WRDS–CRSP)</a:t>
            </a:r>
            <a:endParaRPr sz="4000" b="1"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E81FE6E-7E0A-B084-6452-309AC1E885D4}"/>
              </a:ext>
            </a:extLst>
          </p:cNvPr>
          <p:cNvSpPr txBox="1"/>
          <p:nvPr/>
        </p:nvSpPr>
        <p:spPr>
          <a:xfrm>
            <a:off x="634380" y="1724722"/>
            <a:ext cx="11546632" cy="5632311"/>
          </a:xfrm>
          <a:prstGeom prst="rect">
            <a:avLst/>
          </a:prstGeom>
          <a:noFill/>
        </p:spPr>
        <p:txBody>
          <a:bodyPr wrap="square" rtlCol="0">
            <a:spAutoFit/>
          </a:bodyPr>
          <a:lstStyle/>
          <a:p>
            <a:r>
              <a:rPr lang="en-US" sz="2000" b="1" dirty="0"/>
              <a:t>Objective: </a:t>
            </a:r>
            <a:r>
              <a:rPr lang="en-US" sz="2000" dirty="0"/>
              <a:t>Map </a:t>
            </a:r>
            <a:r>
              <a:rPr lang="en-US" sz="2000" dirty="0" err="1"/>
              <a:t>WallStreetBets</a:t>
            </a:r>
            <a:r>
              <a:rPr lang="en-US" sz="2000" dirty="0"/>
              <a:t> posts to individual stocks for stock–day sentiment analysis</a:t>
            </a:r>
          </a:p>
          <a:p>
            <a:endParaRPr lang="en-US" sz="2000" b="1" dirty="0"/>
          </a:p>
          <a:p>
            <a:r>
              <a:rPr lang="en-US" sz="2000" b="1" dirty="0"/>
              <a:t>Implementation :</a:t>
            </a:r>
            <a:endParaRPr lang="en-US" sz="2000" dirty="0"/>
          </a:p>
          <a:p>
            <a:pPr marL="342900" indent="-342900">
              <a:buFont typeface="Wingdings" panose="05000000000000000000" pitchFamily="2" charset="2"/>
              <a:buChar char="Ø"/>
            </a:pPr>
            <a:r>
              <a:rPr lang="en-US" sz="2000" dirty="0"/>
              <a:t>Loaded high-confidence TA &amp; FA posts (Label = 2)</a:t>
            </a:r>
          </a:p>
          <a:p>
            <a:pPr marL="342900" indent="-342900">
              <a:buFont typeface="Wingdings" panose="05000000000000000000" pitchFamily="2" charset="2"/>
              <a:buChar char="Ø"/>
            </a:pPr>
            <a:r>
              <a:rPr lang="en-US" sz="2000" dirty="0"/>
              <a:t>Established secure connection to </a:t>
            </a:r>
            <a:r>
              <a:rPr lang="en-US" sz="2000" b="1" dirty="0"/>
              <a:t>WRDS</a:t>
            </a:r>
            <a:endParaRPr lang="en-US" sz="2000" dirty="0"/>
          </a:p>
          <a:p>
            <a:pPr marL="342900" indent="-342900">
              <a:buFont typeface="Wingdings" panose="05000000000000000000" pitchFamily="2" charset="2"/>
              <a:buChar char="Ø"/>
            </a:pPr>
            <a:r>
              <a:rPr lang="en-US" sz="2000" dirty="0"/>
              <a:t>Retrieved </a:t>
            </a:r>
            <a:r>
              <a:rPr lang="en-US" sz="2000" b="1" dirty="0"/>
              <a:t>CRSP </a:t>
            </a:r>
            <a:r>
              <a:rPr lang="en-US" sz="2000" b="1" dirty="0" err="1"/>
              <a:t>stocknames</a:t>
            </a:r>
            <a:r>
              <a:rPr lang="en-US" sz="2000" dirty="0"/>
              <a:t> (PERMNO–ticker–company name mappings)</a:t>
            </a:r>
          </a:p>
          <a:p>
            <a:pPr marL="342900" indent="-342900">
              <a:buFont typeface="Wingdings" panose="05000000000000000000" pitchFamily="2" charset="2"/>
              <a:buChar char="Ø"/>
            </a:pPr>
            <a:r>
              <a:rPr lang="en-US" sz="2000" dirty="0"/>
              <a:t>Standardized tickers and cleaned company names</a:t>
            </a:r>
          </a:p>
          <a:p>
            <a:pPr marL="342900" indent="-342900">
              <a:buFont typeface="Wingdings" panose="05000000000000000000" pitchFamily="2" charset="2"/>
              <a:buChar char="Ø"/>
            </a:pPr>
            <a:r>
              <a:rPr lang="en-US" sz="2000" dirty="0"/>
              <a:t>Applied </a:t>
            </a:r>
            <a:r>
              <a:rPr lang="en-US" sz="2000" b="1" dirty="0" err="1"/>
              <a:t>spaCy</a:t>
            </a:r>
            <a:r>
              <a:rPr lang="en-US" sz="2000" b="1" dirty="0"/>
              <a:t>-based phrase matching</a:t>
            </a:r>
            <a:r>
              <a:rPr lang="en-US" sz="2000" dirty="0"/>
              <a:t> for:</a:t>
            </a:r>
          </a:p>
          <a:p>
            <a:pPr lvl="1"/>
            <a:r>
              <a:rPr lang="en-US" sz="2000" dirty="0"/>
              <a:t>- Direct ticker mentions</a:t>
            </a:r>
          </a:p>
          <a:p>
            <a:pPr lvl="1"/>
            <a:r>
              <a:rPr lang="en-US" sz="2000" dirty="0"/>
              <a:t>- Company-name mentions mapped to tickers</a:t>
            </a:r>
          </a:p>
          <a:p>
            <a:endParaRPr lang="en-US" sz="2000" b="1" dirty="0"/>
          </a:p>
          <a:p>
            <a:r>
              <a:rPr lang="en-US" sz="2000" b="1" dirty="0"/>
              <a:t>Result:</a:t>
            </a:r>
            <a:endParaRPr lang="en-US" sz="2000" dirty="0"/>
          </a:p>
          <a:p>
            <a:pPr marL="342900" indent="-342900">
              <a:buFont typeface="Wingdings" panose="05000000000000000000" pitchFamily="2" charset="2"/>
              <a:buChar char="Ø"/>
            </a:pPr>
            <a:r>
              <a:rPr lang="en-US" sz="2000" dirty="0"/>
              <a:t>Dictionary-based matching generated </a:t>
            </a:r>
            <a:r>
              <a:rPr lang="en-US" sz="2000" b="1" dirty="0"/>
              <a:t>high false positives</a:t>
            </a:r>
            <a:endParaRPr lang="en-US" sz="2000" dirty="0"/>
          </a:p>
          <a:p>
            <a:pPr marL="342900" indent="-342900">
              <a:buFont typeface="Wingdings" panose="05000000000000000000" pitchFamily="2" charset="2"/>
              <a:buChar char="Ø"/>
            </a:pPr>
            <a:r>
              <a:rPr lang="en-US" sz="2000" b="1" dirty="0"/>
              <a:t>Reliable ticker identification not achieved</a:t>
            </a:r>
            <a:r>
              <a:rPr lang="en-US" sz="2000" dirty="0"/>
              <a:t> at this stage</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9447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TotalTime>
  <Words>1769</Words>
  <Application>Microsoft Office PowerPoint</Application>
  <PresentationFormat>Widescreen</PresentationFormat>
  <Paragraphs>348</Paragraphs>
  <Slides>18</Slides>
  <Notes>18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6" baseType="lpstr">
      <vt:lpstr>Archivo</vt:lpstr>
      <vt:lpstr>Arial</vt:lpstr>
      <vt:lpstr>Calibri</vt:lpstr>
      <vt:lpstr>Calibri Light</vt:lpstr>
      <vt:lpstr>Lato</vt:lpstr>
      <vt:lpstr>Wingdings</vt:lpstr>
      <vt:lpstr>Office Theme</vt:lpstr>
      <vt:lpstr>Microsoft Excel Worksheet</vt:lpstr>
      <vt:lpstr>      Wisdom or Whims? Decoding sentimental analysis and build long-short portfolio  Dataset: Reddit WallStreetBets posts (2020–2025)</vt:lpstr>
      <vt:lpstr>Data Sources &amp; Standardization</vt:lpstr>
      <vt:lpstr>Rule-Based Labeling (TA &amp; FA)</vt:lpstr>
      <vt:lpstr>Rule-Based Regex Classifier → Two-Stage Heuristic System  </vt:lpstr>
      <vt:lpstr>Technical Indicators Used</vt:lpstr>
      <vt:lpstr>Technical Indicators Used</vt:lpstr>
      <vt:lpstr>Fundamental Indicators Used</vt:lpstr>
      <vt:lpstr>Fundamental Indicators Used</vt:lpstr>
      <vt:lpstr>Rule-Based Labelling &amp; Class Imbalance</vt:lpstr>
      <vt:lpstr>Balanced Dataset &amp; GPT Labeling</vt:lpstr>
      <vt:lpstr>Prompt Used for Technical Analysis Labeling in GPT:  "You have a deep understanding of the language of social media and financial markets. Please analyze the message from an investor social media platform. Please parse the message along two dimensions. 1) Presence of technical analysis (0=no, 1=possibly, 2=likely). 2) if technical analysis is used, what is the technical indicator? (output the indicator or "" if you cannot locate it. If multiple signals exist, please separate by a comma) Output in CSV format: {"technical_analysis":, "techni cal_indicator": }”.   </vt:lpstr>
      <vt:lpstr>BERT Model Training (TA &amp; FA)</vt:lpstr>
      <vt:lpstr>Inference &amp; Intensity Construction</vt:lpstr>
      <vt:lpstr>Model-Predicted TA &amp; FA Label Distribution</vt:lpstr>
      <vt:lpstr>Technical vs Fundamental Analysis: Rule-Based Classification Results</vt:lpstr>
      <vt:lpstr>Rule-Based vs BERT: Technical Analysis Classification</vt:lpstr>
      <vt:lpstr>Sources of Fundamental Indicators for Rule-Based Regex Pattern</vt:lpstr>
      <vt:lpstr>Ticker Extraction Attempt (WRDS–CRSP)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Siddhant Khatiwada</dc:creator>
  <cp:lastModifiedBy>Siddhant Khatiwada</cp:lastModifiedBy>
  <cp:revision>18</cp:revision>
  <dcterms:created xsi:type="dcterms:W3CDTF">2026-01-16T00:58:56Z</dcterms:created>
  <dcterms:modified xsi:type="dcterms:W3CDTF">2026-02-08T20:23:06Z</dcterms:modified>
</cp:coreProperties>
</file>